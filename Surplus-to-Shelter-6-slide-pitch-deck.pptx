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DDF2-9114-211C-5F9B-F59158FAA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BCF7A-04DC-D2DE-764C-6B0792385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C0BF2-393E-A01B-3E07-6EB8F5F2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7F8C7-97DA-C713-04B1-E21B5E186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8B85E-C8A6-B71C-47E9-E91CA994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129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9246-CDCD-8C95-23DA-A1994B9C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87875-7638-C290-61FA-EC74FC80F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B68B5-ABF9-440B-AEB1-ED68C1F57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4C94-6355-5D35-FA27-1BF6C9C37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A2768-1264-7E6C-7FFC-FF660CFE2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505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36DA9-3023-7B66-E248-DFC4D2DE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4D4D1-8942-4FC2-C32A-C322C8764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B4E9E-71A8-7198-1072-67600F6D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F191E-3A80-B807-F732-16288EAC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4DBCA-9C9A-551D-8429-38D6D41B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02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F6F0C-F144-1BCA-6328-B53F8A0C1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F0793-0EF2-F686-3A0E-764201B81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6682C-DD43-CFD7-9FA2-F0D8226D2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EF550-DABA-CF25-40FB-B66D7E60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1C2FD-C3FC-46A5-5CFC-EED1F8BD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CB7B0-066E-20AF-6D27-0DE72490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779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6AD2-C1B2-80AC-820D-63ECB480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15075-7157-0EDA-79FC-13F970502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2D49E-9D5E-C5DA-B09D-5809DF320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039C27-85E0-0147-580A-ED31E5D42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7201A-6FDC-1394-5B03-37CBBFB42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BDE13-DC0C-BA67-B802-54F3EA26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A8AB1F-93F0-343B-5561-EC8942142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8E5AA-2101-1735-F657-8CDD4644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18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55C3-AF9D-800A-72BB-5035C5F8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20AC0-FD00-7058-44A8-036313F0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8E959-F9BC-52C4-D765-0B475ED1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69CA8-54B4-43C9-960F-3EE8FD02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08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E2AA3E-F1C6-0D14-9C7B-E94E5791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6DC04D-80E1-2C04-FA2D-965EF3FA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86F0B-93AB-9CCB-0067-212EBCE7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99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45EE-A9A3-531B-8D01-88AAC390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08053-AAAC-0DE6-F5CC-651FFD2A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3B545-B64C-292A-1CD3-6359B25D3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3C423-BC91-2B8B-ED6A-6A635140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2C0EE-ACD7-CCD9-9C76-EB96C385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823A3-39BD-1B17-BB9E-C2BD22DC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996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3093F-24B4-9446-DE4C-C631BFCE2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4465CD-B572-A44A-4F75-03100CE8A9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6942D-B4EA-EB00-C057-E21CAA4DF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2070D-ABC9-5BC8-1491-52FC5DA73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3E6D3-2D2A-2FD5-8419-BD3AB3F4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4A779-D35C-62DC-E1D9-C8236580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67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E945B-6959-FF5A-4BF0-C981FEB0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A0D17-19F4-C05F-BB97-E848CE695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3D121-F3B3-3988-4401-E2BC6C6A4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D1970-8DB8-0006-4B55-6616E727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A2D03-82D7-6934-B01C-A78C3252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068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332C31-8837-195E-B0B5-05B050B09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3E5CA-47A2-3676-CA49-3A683FA32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4883A-93A2-F0B7-9824-AEE371F8E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9951A-D423-86D1-7924-481E9DF4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AB476-2C3D-466B-8EA0-84543C8F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1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09850-E671-E6FC-B34F-A3D430FF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726FF-E448-0B7B-717D-C8069A014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A78C3-7B0E-7255-D80D-262C063BE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47BA0-2A38-44E7-829C-8D8F18826265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F7A1-AE86-F8D4-E09C-C044A155D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D6AE2-D200-5EB5-8BFF-B0762EE11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36F2F-4161-41C4-9F8B-0EBAC26FF7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131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63801E-9C90-E74A-3BDD-BD15C830B918}"/>
              </a:ext>
            </a:extLst>
          </p:cNvPr>
          <p:cNvSpPr/>
          <p:nvPr/>
        </p:nvSpPr>
        <p:spPr>
          <a:xfrm>
            <a:off x="8890000" y="0"/>
            <a:ext cx="3302000" cy="6858000"/>
          </a:xfrm>
          <a:prstGeom prst="rect">
            <a:avLst/>
          </a:prstGeom>
          <a:solidFill>
            <a:srgbClr val="0F3F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5F6109-38FE-6DF9-EE3B-AD052BE2B796}"/>
              </a:ext>
            </a:extLst>
          </p:cNvPr>
          <p:cNvSpPr/>
          <p:nvPr/>
        </p:nvSpPr>
        <p:spPr>
          <a:xfrm>
            <a:off x="8890000" y="0"/>
            <a:ext cx="3302000" cy="6858000"/>
          </a:xfrm>
          <a:prstGeom prst="rect">
            <a:avLst/>
          </a:prstGeom>
          <a:solidFill>
            <a:srgbClr val="0F3F34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449AC9-1795-78E3-4E04-D45A5B182741}"/>
              </a:ext>
            </a:extLst>
          </p:cNvPr>
          <p:cNvSpPr txBox="1"/>
          <p:nvPr/>
        </p:nvSpPr>
        <p:spPr>
          <a:xfrm>
            <a:off x="584200" y="431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 b="1">
                <a:solidFill>
                  <a:srgbClr val="0F3F34"/>
                </a:solidFill>
                <a:latin typeface="Consolas" panose="020B0609020204030204" pitchFamily="49" charset="0"/>
              </a:rPr>
              <a:t>TRACK A  /  NGO  /  SOCIAL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43CB0-34A0-FAF6-1E0D-C2C9B9BC2945}"/>
              </a:ext>
            </a:extLst>
          </p:cNvPr>
          <p:cNvSpPr txBox="1"/>
          <p:nvPr/>
        </p:nvSpPr>
        <p:spPr>
          <a:xfrm>
            <a:off x="6286500" y="4318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850" b="1">
                <a:solidFill>
                  <a:srgbClr val="6F6F62"/>
                </a:solidFill>
                <a:latin typeface="Consolas" panose="020B0609020204030204" pitchFamily="49" charset="0"/>
              </a:rPr>
              <a:t>JAIPUR  /  PILOT RUN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39305-C764-AAF2-BD51-D0C9BB41D513}"/>
              </a:ext>
            </a:extLst>
          </p:cNvPr>
          <p:cNvSpPr txBox="1"/>
          <p:nvPr/>
        </p:nvSpPr>
        <p:spPr>
          <a:xfrm>
            <a:off x="609600" y="14732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4300" b="1">
                <a:solidFill>
                  <a:srgbClr val="1D2A24"/>
                </a:solidFill>
                <a:latin typeface="Georgia" panose="02040502050405020303" pitchFamily="18" charset="0"/>
              </a:rPr>
              <a:t>Surplus-to-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5B15D-DC70-115D-B4A3-04EBADF5212C}"/>
              </a:ext>
            </a:extLst>
          </p:cNvPr>
          <p:cNvSpPr txBox="1"/>
          <p:nvPr/>
        </p:nvSpPr>
        <p:spPr>
          <a:xfrm>
            <a:off x="609600" y="22098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4900" b="1" i="1">
                <a:solidFill>
                  <a:srgbClr val="C65A37"/>
                </a:solidFill>
                <a:latin typeface="Georgia" panose="02040502050405020303" pitchFamily="18" charset="0"/>
              </a:rPr>
              <a:t>Shelter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7E868-BC19-B555-DF43-CD1AF0CB2E34}"/>
              </a:ext>
            </a:extLst>
          </p:cNvPr>
          <p:cNvSpPr txBox="1"/>
          <p:nvPr/>
        </p:nvSpPr>
        <p:spPr>
          <a:xfrm>
            <a:off x="609600" y="34671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D2A24"/>
                </a:solidFill>
                <a:latin typeface="Aptos" panose="020B0004020202020204" pitchFamily="34" charset="0"/>
              </a:rPr>
              <a:t>Real-time algorithmic food rescue engine.</a:t>
            </a:r>
            <a:endParaRPr lang="en-IN" sz="1600">
              <a:solidFill>
                <a:srgbClr val="1D2A24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76DB04-52C6-D63B-6C6E-A33512EC0B45}"/>
              </a:ext>
            </a:extLst>
          </p:cNvPr>
          <p:cNvSpPr txBox="1"/>
          <p:nvPr/>
        </p:nvSpPr>
        <p:spPr>
          <a:xfrm>
            <a:off x="609600" y="40132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i="1">
                <a:solidFill>
                  <a:srgbClr val="6F6F62"/>
                </a:solidFill>
                <a:latin typeface="Aptos" panose="020B0004020202020204" pitchFamily="34" charset="0"/>
              </a:rPr>
              <a:t>Solving the 2–6 hour spoilage bottleneck with live capacity-matching &amp; automated ESG receipts.</a:t>
            </a:r>
            <a:endParaRPr lang="en-IN" sz="1150" i="1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81D708-2C48-85D9-D4DB-DFCC2C5057D9}"/>
              </a:ext>
            </a:extLst>
          </p:cNvPr>
          <p:cNvCxnSpPr/>
          <p:nvPr/>
        </p:nvCxnSpPr>
        <p:spPr>
          <a:xfrm>
            <a:off x="609600" y="5130800"/>
            <a:ext cx="7315200" cy="0"/>
          </a:xfrm>
          <a:prstGeom prst="line">
            <a:avLst/>
          </a:prstGeom>
          <a:ln w="952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1EC5031-5DD6-512A-3956-401BF08071B7}"/>
              </a:ext>
            </a:extLst>
          </p:cNvPr>
          <p:cNvSpPr txBox="1"/>
          <p:nvPr/>
        </p:nvSpPr>
        <p:spPr>
          <a:xfrm>
            <a:off x="609600" y="54102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50" b="1">
                <a:solidFill>
                  <a:srgbClr val="6F6F62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BAC378-CF76-769A-10FE-FF22E2B1218F}"/>
              </a:ext>
            </a:extLst>
          </p:cNvPr>
          <p:cNvSpPr txBox="1"/>
          <p:nvPr/>
        </p:nvSpPr>
        <p:spPr>
          <a:xfrm>
            <a:off x="609600" y="5613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1D2A24"/>
                </a:solidFill>
                <a:latin typeface="Aptos" panose="020B0004020202020204" pitchFamily="34" charset="0"/>
              </a:rPr>
              <a:t>TechCypher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99C4E-3D25-B84D-5B95-AFE662210C80}"/>
              </a:ext>
            </a:extLst>
          </p:cNvPr>
          <p:cNvSpPr txBox="1"/>
          <p:nvPr/>
        </p:nvSpPr>
        <p:spPr>
          <a:xfrm>
            <a:off x="3276600" y="54102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50" b="1">
                <a:solidFill>
                  <a:srgbClr val="6F6F62"/>
                </a:solidFill>
                <a:latin typeface="Consolas" panose="020B0609020204030204" pitchFamily="49" charset="0"/>
              </a:rPr>
              <a:t>DEPLOYMENT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2BFBAB-E2BF-2B8F-BD3E-681986C50E09}"/>
              </a:ext>
            </a:extLst>
          </p:cNvPr>
          <p:cNvSpPr txBox="1"/>
          <p:nvPr/>
        </p:nvSpPr>
        <p:spPr>
          <a:xfrm>
            <a:off x="3276600" y="5613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1D2A24"/>
                </a:solidFill>
                <a:latin typeface="Aptos" panose="020B0004020202020204" pitchFamily="34" charset="0"/>
              </a:rPr>
              <a:t>Live Netlify Web App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4B2CEE-1A34-5B14-2583-0D750E1A17FD}"/>
              </a:ext>
            </a:extLst>
          </p:cNvPr>
          <p:cNvSpPr txBox="1"/>
          <p:nvPr/>
        </p:nvSpPr>
        <p:spPr>
          <a:xfrm>
            <a:off x="9525000" y="990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900" b="1">
                <a:solidFill>
                  <a:srgbClr val="C65A37"/>
                </a:solidFill>
                <a:latin typeface="Consolas" panose="020B0609020204030204" pitchFamily="49" charset="0"/>
              </a:rPr>
              <a:t>URGENT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73404A-3EE1-382B-82DF-2F3993CC5CF7}"/>
              </a:ext>
            </a:extLst>
          </p:cNvPr>
          <p:cNvSpPr/>
          <p:nvPr/>
        </p:nvSpPr>
        <p:spPr>
          <a:xfrm>
            <a:off x="9410700" y="1511300"/>
            <a:ext cx="2286000" cy="2159000"/>
          </a:xfrm>
          <a:prstGeom prst="rect">
            <a:avLst/>
          </a:prstGeom>
          <a:solidFill>
            <a:srgbClr val="0F3F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49F2EC-0E00-F085-BEF9-8093D08EA69A}"/>
              </a:ext>
            </a:extLst>
          </p:cNvPr>
          <p:cNvSpPr txBox="1"/>
          <p:nvPr/>
        </p:nvSpPr>
        <p:spPr>
          <a:xfrm>
            <a:off x="9626600" y="1803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4900" b="1">
                <a:solidFill>
                  <a:srgbClr val="FFFCF4"/>
                </a:solidFill>
                <a:latin typeface="Aptos" panose="020B0004020202020204" pitchFamily="34" charset="0"/>
              </a:rPr>
              <a:t>2–6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EBA47C-CD50-A326-70E7-58FDCDEB5B90}"/>
              </a:ext>
            </a:extLst>
          </p:cNvPr>
          <p:cNvSpPr txBox="1"/>
          <p:nvPr/>
        </p:nvSpPr>
        <p:spPr>
          <a:xfrm>
            <a:off x="9626600" y="26797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700" b="1">
                <a:solidFill>
                  <a:srgbClr val="C65A37"/>
                </a:solidFill>
                <a:latin typeface="Consolas" panose="020B0609020204030204" pitchFamily="49" charset="0"/>
              </a:rPr>
              <a:t>HOURS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4CF624-6D7C-6F83-18BE-0230D674E3BB}"/>
              </a:ext>
            </a:extLst>
          </p:cNvPr>
          <p:cNvSpPr txBox="1"/>
          <p:nvPr/>
        </p:nvSpPr>
        <p:spPr>
          <a:xfrm>
            <a:off x="9525000" y="38608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750" b="1">
                <a:solidFill>
                  <a:srgbClr val="FFFCF4"/>
                </a:solidFill>
                <a:latin typeface="Consolas" panose="020B0609020204030204" pitchFamily="49" charset="0"/>
              </a:rPr>
              <a:t>SPOILAGE WINDOW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F69BDCA-7D09-12A4-0A86-83379E6AAA47}"/>
              </a:ext>
            </a:extLst>
          </p:cNvPr>
          <p:cNvSpPr/>
          <p:nvPr/>
        </p:nvSpPr>
        <p:spPr>
          <a:xfrm>
            <a:off x="9715500" y="5041900"/>
            <a:ext cx="152400" cy="152400"/>
          </a:xfrm>
          <a:prstGeom prst="ellipse">
            <a:avLst/>
          </a:prstGeom>
          <a:solidFill>
            <a:srgbClr val="C65A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DFBC8C-A1DD-A8EC-2250-15DA77EB52E7}"/>
              </a:ext>
            </a:extLst>
          </p:cNvPr>
          <p:cNvCxnSpPr/>
          <p:nvPr/>
        </p:nvCxnSpPr>
        <p:spPr>
          <a:xfrm>
            <a:off x="9867900" y="5118100"/>
            <a:ext cx="1625600" cy="0"/>
          </a:xfrm>
          <a:prstGeom prst="line">
            <a:avLst/>
          </a:prstGeom>
          <a:ln w="15240">
            <a:solidFill>
              <a:srgbClr val="C65A3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BD0AD3B-AE0C-B400-2DD4-FC290818EE04}"/>
              </a:ext>
            </a:extLst>
          </p:cNvPr>
          <p:cNvSpPr/>
          <p:nvPr/>
        </p:nvSpPr>
        <p:spPr>
          <a:xfrm>
            <a:off x="11341100" y="5041900"/>
            <a:ext cx="152400" cy="152400"/>
          </a:xfrm>
          <a:prstGeom prst="ellipse">
            <a:avLst/>
          </a:prstGeom>
          <a:solidFill>
            <a:srgbClr val="FFFCF4"/>
          </a:solidFill>
          <a:ln w="9525">
            <a:solidFill>
              <a:srgbClr val="0F3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5C2EA3-71A7-4592-9755-481D2BCEC6DF}"/>
              </a:ext>
            </a:extLst>
          </p:cNvPr>
          <p:cNvSpPr txBox="1"/>
          <p:nvPr/>
        </p:nvSpPr>
        <p:spPr>
          <a:xfrm>
            <a:off x="9474200" y="53721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700" b="1">
                <a:solidFill>
                  <a:srgbClr val="FFFCF4"/>
                </a:solidFill>
                <a:latin typeface="Consolas" panose="020B0609020204030204" pitchFamily="49" charset="0"/>
              </a:rPr>
              <a:t>SURPLUS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936B58-81BC-C4CA-DEB4-76860CB8D791}"/>
              </a:ext>
            </a:extLst>
          </p:cNvPr>
          <p:cNvSpPr txBox="1"/>
          <p:nvPr/>
        </p:nvSpPr>
        <p:spPr>
          <a:xfrm>
            <a:off x="10795000" y="53721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00" b="1">
                <a:solidFill>
                  <a:srgbClr val="FFFCF4"/>
                </a:solidFill>
                <a:latin typeface="Consolas" panose="020B0609020204030204" pitchFamily="49" charset="0"/>
              </a:rPr>
              <a:t>SHELTER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9B2705F-12B9-E365-707B-427D51445038}"/>
              </a:ext>
            </a:extLst>
          </p:cNvPr>
          <p:cNvSpPr/>
          <p:nvPr/>
        </p:nvSpPr>
        <p:spPr>
          <a:xfrm rot="-480000">
            <a:off x="10198100" y="4368800"/>
            <a:ext cx="1219200" cy="723900"/>
          </a:xfrm>
          <a:prstGeom prst="roundRect">
            <a:avLst/>
          </a:prstGeom>
          <a:solidFill>
            <a:srgbClr val="C65A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A7B046-04E7-551D-803A-D75CF865C293}"/>
              </a:ext>
            </a:extLst>
          </p:cNvPr>
          <p:cNvSpPr txBox="1"/>
          <p:nvPr/>
        </p:nvSpPr>
        <p:spPr>
          <a:xfrm>
            <a:off x="10350500" y="45974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000" b="1">
                <a:solidFill>
                  <a:srgbClr val="FFFCF4"/>
                </a:solidFill>
                <a:latin typeface="Consolas" panose="020B0609020204030204" pitchFamily="49" charset="0"/>
              </a:rPr>
              <a:t>LATE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1668EA-FDBE-9DE4-9EB4-0EA528C0ED84}"/>
              </a:ext>
            </a:extLst>
          </p:cNvPr>
          <p:cNvSpPr txBox="1"/>
          <p:nvPr/>
        </p:nvSpPr>
        <p:spPr>
          <a:xfrm>
            <a:off x="10629900" y="6527800"/>
            <a:ext cx="1130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 b="1">
                <a:solidFill>
                  <a:srgbClr val="0F3F34"/>
                </a:solidFill>
                <a:latin typeface="Consolas" panose="020B0609020204030204" pitchFamily="49" charset="0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3319336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528BFE-BEBD-4667-2EFD-102862DD75EE}"/>
              </a:ext>
            </a:extLst>
          </p:cNvPr>
          <p:cNvSpPr txBox="1"/>
          <p:nvPr/>
        </p:nvSpPr>
        <p:spPr>
          <a:xfrm>
            <a:off x="431800" y="2413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850" b="1">
                <a:solidFill>
                  <a:srgbClr val="0F3F34"/>
                </a:solidFill>
                <a:latin typeface="Consolas" panose="020B0609020204030204" pitchFamily="49" charset="0"/>
              </a:rPr>
              <a:t>ANATOMY  /  OF A FAILING HANDOFF</a:t>
            </a:r>
            <a:endParaRPr lang="en-IN" sz="850" b="1">
              <a:solidFill>
                <a:srgbClr val="0F3F34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E23D8E-1916-F4F4-1D31-54074FFA1525}"/>
              </a:ext>
            </a:extLst>
          </p:cNvPr>
          <p:cNvSpPr txBox="1"/>
          <p:nvPr/>
        </p:nvSpPr>
        <p:spPr>
          <a:xfrm>
            <a:off x="6985000" y="241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850" b="1">
                <a:solidFill>
                  <a:srgbClr val="C65A37"/>
                </a:solidFill>
                <a:latin typeface="Consolas" panose="020B0609020204030204" pitchFamily="49" charset="0"/>
              </a:rPr>
              <a:t>THREE BOTTLENECKS  /  ONE SUPPLY CHAIN</a:t>
            </a:r>
            <a:endParaRPr lang="en-IN" sz="850" b="1">
              <a:solidFill>
                <a:srgbClr val="C65A37"/>
              </a:solidFill>
              <a:latin typeface="Consolas" panose="020B0609020204030204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FEF0C4-F817-BF38-F495-20B614489C6D}"/>
              </a:ext>
            </a:extLst>
          </p:cNvPr>
          <p:cNvCxnSpPr/>
          <p:nvPr/>
        </p:nvCxnSpPr>
        <p:spPr>
          <a:xfrm>
            <a:off x="431800" y="546100"/>
            <a:ext cx="11328400" cy="0"/>
          </a:xfrm>
          <a:prstGeom prst="line">
            <a:avLst/>
          </a:prstGeom>
          <a:ln w="952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F0ED1EF-ECF1-57BE-978E-155FAFB7668A}"/>
              </a:ext>
            </a:extLst>
          </p:cNvPr>
          <p:cNvSpPr txBox="1"/>
          <p:nvPr/>
        </p:nvSpPr>
        <p:spPr>
          <a:xfrm>
            <a:off x="431800" y="8890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600" b="1">
                <a:solidFill>
                  <a:srgbClr val="1D2A24"/>
                </a:solidFill>
                <a:latin typeface="Georgia" panose="02040502050405020303" pitchFamily="18" charset="0"/>
              </a:rPr>
              <a:t>Why good cooked food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920B3E-1964-B505-4146-1EF7B252271D}"/>
              </a:ext>
            </a:extLst>
          </p:cNvPr>
          <p:cNvSpPr txBox="1"/>
          <p:nvPr/>
        </p:nvSpPr>
        <p:spPr>
          <a:xfrm>
            <a:off x="6400800" y="8890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600" b="1" i="1">
                <a:solidFill>
                  <a:srgbClr val="C65A37"/>
                </a:solidFill>
                <a:latin typeface="Georgia" panose="02040502050405020303" pitchFamily="18" charset="0"/>
              </a:rPr>
              <a:t>still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2BFE09-927E-EEEC-50A8-B4BC6CFFA580}"/>
              </a:ext>
            </a:extLst>
          </p:cNvPr>
          <p:cNvSpPr txBox="1"/>
          <p:nvPr/>
        </p:nvSpPr>
        <p:spPr>
          <a:xfrm>
            <a:off x="7315200" y="889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600" b="1">
                <a:solidFill>
                  <a:srgbClr val="1D2A24"/>
                </a:solidFill>
                <a:latin typeface="Georgia" panose="02040502050405020303" pitchFamily="18" charset="0"/>
              </a:rPr>
              <a:t> becomes waste.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980078-3F37-9002-9AA2-D0ADE63349B5}"/>
              </a:ext>
            </a:extLst>
          </p:cNvPr>
          <p:cNvSpPr txBox="1"/>
          <p:nvPr/>
        </p:nvSpPr>
        <p:spPr>
          <a:xfrm>
            <a:off x="431800" y="16383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6F6F62"/>
                </a:solidFill>
                <a:latin typeface="Aptos" panose="020B0004020202020204" pitchFamily="34" charset="0"/>
              </a:rPr>
              <a:t>The missing ingredient is not supply, capacity, or goodwill. It is a clock that beats faster than WhatsApp, a gate we cannot see, and a margin that points the wrong way.</a:t>
            </a:r>
            <a:endParaRPr lang="en-IN" sz="95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F73F90-AC3F-A646-1B88-77DFE9BF3A29}"/>
              </a:ext>
            </a:extLst>
          </p:cNvPr>
          <p:cNvCxnSpPr/>
          <p:nvPr/>
        </p:nvCxnSpPr>
        <p:spPr>
          <a:xfrm>
            <a:off x="431800" y="2260600"/>
            <a:ext cx="3403600" cy="0"/>
          </a:xfrm>
          <a:prstGeom prst="line">
            <a:avLst/>
          </a:prstGeom>
          <a:ln w="25400">
            <a:solidFill>
              <a:srgbClr val="C65A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05F305-8BD0-B078-E338-76EC9F46728D}"/>
              </a:ext>
            </a:extLst>
          </p:cNvPr>
          <p:cNvSpPr txBox="1"/>
          <p:nvPr/>
        </p:nvSpPr>
        <p:spPr>
          <a:xfrm>
            <a:off x="431800" y="2387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50" b="1">
                <a:solidFill>
                  <a:srgbClr val="C65A37"/>
                </a:solidFill>
                <a:latin typeface="Consolas" panose="020B0609020204030204" pitchFamily="49" charset="0"/>
              </a:rPr>
              <a:t>01  /  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CC1707-D065-78E6-BA26-5B44EA4967FF}"/>
              </a:ext>
            </a:extLst>
          </p:cNvPr>
          <p:cNvSpPr txBox="1"/>
          <p:nvPr/>
        </p:nvSpPr>
        <p:spPr>
          <a:xfrm>
            <a:off x="431800" y="27686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500" b="1">
                <a:solidFill>
                  <a:srgbClr val="1D2A24"/>
                </a:solidFill>
                <a:latin typeface="Georgia" panose="02040502050405020303" pitchFamily="18" charset="0"/>
              </a:rPr>
              <a:t>2–6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616264-25A3-3C48-D5FC-B69AC169D653}"/>
              </a:ext>
            </a:extLst>
          </p:cNvPr>
          <p:cNvSpPr txBox="1"/>
          <p:nvPr/>
        </p:nvSpPr>
        <p:spPr>
          <a:xfrm>
            <a:off x="2908300" y="2946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100" b="1">
                <a:solidFill>
                  <a:srgbClr val="C65A37"/>
                </a:solidFill>
                <a:latin typeface="Consolas" panose="020B0609020204030204" pitchFamily="49" charset="0"/>
              </a:rPr>
              <a:t>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C2846A-FE73-75C4-6205-5BC8A3558D21}"/>
              </a:ext>
            </a:extLst>
          </p:cNvPr>
          <p:cNvSpPr txBox="1"/>
          <p:nvPr/>
        </p:nvSpPr>
        <p:spPr>
          <a:xfrm>
            <a:off x="431800" y="35433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50" b="1">
                <a:solidFill>
                  <a:srgbClr val="1D2A24"/>
                </a:solidFill>
                <a:latin typeface="Aptos" panose="020B0004020202020204" pitchFamily="34" charset="0"/>
              </a:rPr>
              <a:t>The spoilage window.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27B5DD-FC60-1AA1-2E01-78537AE0E235}"/>
              </a:ext>
            </a:extLst>
          </p:cNvPr>
          <p:cNvSpPr txBox="1"/>
          <p:nvPr/>
        </p:nvSpPr>
        <p:spPr>
          <a:xfrm>
            <a:off x="431800" y="4076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6F6F62"/>
                </a:solidFill>
                <a:latin typeface="Aptos" panose="020B0004020202020204" pitchFamily="34" charset="0"/>
              </a:rPr>
              <a:t>Cooked food decays faster than manual coordination can run. WhatsApp forwards lose the thread. Calls die on hold. By the time a driver would arrive, the tawa is cold.</a:t>
            </a:r>
            <a:endParaRPr lang="en-IN" sz="90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65ABBF-E517-6F09-34CA-9E542118F011}"/>
              </a:ext>
            </a:extLst>
          </p:cNvPr>
          <p:cNvCxnSpPr/>
          <p:nvPr/>
        </p:nvCxnSpPr>
        <p:spPr>
          <a:xfrm>
            <a:off x="4368800" y="2260600"/>
            <a:ext cx="3403600" cy="0"/>
          </a:xfrm>
          <a:prstGeom prst="line">
            <a:avLst/>
          </a:prstGeom>
          <a:ln w="25400">
            <a:solidFill>
              <a:srgbClr val="C65A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E8BCF0-F77A-89BC-AA8E-F90FA6440989}"/>
              </a:ext>
            </a:extLst>
          </p:cNvPr>
          <p:cNvSpPr txBox="1"/>
          <p:nvPr/>
        </p:nvSpPr>
        <p:spPr>
          <a:xfrm>
            <a:off x="4368800" y="2387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50" b="1">
                <a:solidFill>
                  <a:srgbClr val="C65A37"/>
                </a:solidFill>
                <a:latin typeface="Consolas" panose="020B0609020204030204" pitchFamily="49" charset="0"/>
              </a:rPr>
              <a:t>02  /  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8119E7-2DEB-E4FA-CBE4-96FB2E69BA72}"/>
              </a:ext>
            </a:extLst>
          </p:cNvPr>
          <p:cNvSpPr txBox="1"/>
          <p:nvPr/>
        </p:nvSpPr>
        <p:spPr>
          <a:xfrm>
            <a:off x="4368800" y="27686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500" b="1">
                <a:solidFill>
                  <a:srgbClr val="1D2A24"/>
                </a:solidFill>
                <a:latin typeface="Georgia" panose="02040502050405020303" pitchFamily="18" charset="0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3894D-E759-D5B3-917F-08A291FA605A}"/>
              </a:ext>
            </a:extLst>
          </p:cNvPr>
          <p:cNvSpPr txBox="1"/>
          <p:nvPr/>
        </p:nvSpPr>
        <p:spPr>
          <a:xfrm>
            <a:off x="6845300" y="2946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100" b="1">
                <a:solidFill>
                  <a:srgbClr val="C65A37"/>
                </a:solidFill>
                <a:latin typeface="Consolas" panose="020B0609020204030204" pitchFamily="49" charset="0"/>
              </a:rPr>
              <a:t>/n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979E84-1BF2-0FA0-A22D-A262CB2249A1}"/>
              </a:ext>
            </a:extLst>
          </p:cNvPr>
          <p:cNvSpPr txBox="1"/>
          <p:nvPr/>
        </p:nvSpPr>
        <p:spPr>
          <a:xfrm>
            <a:off x="4368800" y="35433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50" b="1">
                <a:solidFill>
                  <a:srgbClr val="1D2A24"/>
                </a:solidFill>
                <a:latin typeface="Aptos" panose="020B0004020202020204" pitchFamily="34" charset="0"/>
              </a:rPr>
              <a:t>The capacity blind spot.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E426D5-FBCC-7925-F6D4-FC265122EA0C}"/>
              </a:ext>
            </a:extLst>
          </p:cNvPr>
          <p:cNvSpPr txBox="1"/>
          <p:nvPr/>
        </p:nvSpPr>
        <p:spPr>
          <a:xfrm>
            <a:off x="4368800" y="4076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6F6F62"/>
                </a:solidFill>
                <a:latin typeface="Aptos" panose="020B0004020202020204" pitchFamily="34" charset="0"/>
              </a:rPr>
              <a:t>Shelters have free cold-storage slots we never see. A 30kg delivery to a shelter with 8kg of room is a re-dump an hour later, at the next chowk.</a:t>
            </a:r>
            <a:endParaRPr lang="en-IN" sz="90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289125-9884-47E1-7947-07B3CD71B1DD}"/>
              </a:ext>
            </a:extLst>
          </p:cNvPr>
          <p:cNvCxnSpPr/>
          <p:nvPr/>
        </p:nvCxnSpPr>
        <p:spPr>
          <a:xfrm>
            <a:off x="8305800" y="2260600"/>
            <a:ext cx="3403600" cy="0"/>
          </a:xfrm>
          <a:prstGeom prst="line">
            <a:avLst/>
          </a:prstGeom>
          <a:ln w="25400">
            <a:solidFill>
              <a:srgbClr val="C65A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F5FF442-712C-0252-F1DD-93D05BF06FB3}"/>
              </a:ext>
            </a:extLst>
          </p:cNvPr>
          <p:cNvSpPr txBox="1"/>
          <p:nvPr/>
        </p:nvSpPr>
        <p:spPr>
          <a:xfrm>
            <a:off x="8305800" y="2387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50" b="1">
                <a:solidFill>
                  <a:srgbClr val="C65A37"/>
                </a:solidFill>
                <a:latin typeface="Consolas" panose="020B0609020204030204" pitchFamily="49" charset="0"/>
              </a:rPr>
              <a:t>03  /  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AAACF4-73A1-39C2-D054-0C2943EB2F88}"/>
              </a:ext>
            </a:extLst>
          </p:cNvPr>
          <p:cNvSpPr txBox="1"/>
          <p:nvPr/>
        </p:nvSpPr>
        <p:spPr>
          <a:xfrm>
            <a:off x="8305800" y="27686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500" b="1">
                <a:solidFill>
                  <a:srgbClr val="C65A37"/>
                </a:solidFill>
                <a:latin typeface="Georgia" panose="02040502050405020303" pitchFamily="18" charset="0"/>
              </a:rPr>
              <a:t>₹0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105D3B-05AE-750D-FF89-0331A2349F93}"/>
              </a:ext>
            </a:extLst>
          </p:cNvPr>
          <p:cNvSpPr txBox="1"/>
          <p:nvPr/>
        </p:nvSpPr>
        <p:spPr>
          <a:xfrm>
            <a:off x="10782300" y="29464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100" b="1">
                <a:solidFill>
                  <a:srgbClr val="C65A37"/>
                </a:solidFill>
                <a:latin typeface="Consolas" panose="020B0609020204030204" pitchFamily="49" charset="0"/>
              </a:rPr>
              <a:t>/kg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C63762-21B6-3F53-A298-31C292E60A49}"/>
              </a:ext>
            </a:extLst>
          </p:cNvPr>
          <p:cNvSpPr txBox="1"/>
          <p:nvPr/>
        </p:nvSpPr>
        <p:spPr>
          <a:xfrm>
            <a:off x="8305800" y="35433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 b="1">
                <a:solidFill>
                  <a:srgbClr val="1D2A24"/>
                </a:solidFill>
                <a:latin typeface="Aptos" panose="020B0004020202020204" pitchFamily="34" charset="0"/>
              </a:rPr>
              <a:t>Cost goes the wrong way.</a:t>
            </a:r>
            <a:endParaRPr lang="en-IN" sz="1350" b="1">
              <a:solidFill>
                <a:srgbClr val="1D2A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F164E1-3AD7-B152-3E42-FDC7B584C87B}"/>
              </a:ext>
            </a:extLst>
          </p:cNvPr>
          <p:cNvSpPr txBox="1"/>
          <p:nvPr/>
        </p:nvSpPr>
        <p:spPr>
          <a:xfrm>
            <a:off x="8305800" y="4076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6F6F62"/>
                </a:solidFill>
                <a:latin typeface="Aptos" panose="020B0004020202020204" pitchFamily="34" charset="0"/>
              </a:rPr>
              <a:t>The dustbin is one tap away. Donating is twenty-five. No automated receipt, no 80G paper trail, no finance committee recognition. The trolley rolls past the donation shelf.</a:t>
            </a:r>
            <a:endParaRPr lang="en-IN" sz="90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B0EB85-6A21-C4F1-9B0B-EC99F4877BB9}"/>
              </a:ext>
            </a:extLst>
          </p:cNvPr>
          <p:cNvSpPr/>
          <p:nvPr/>
        </p:nvSpPr>
        <p:spPr>
          <a:xfrm>
            <a:off x="431800" y="5626100"/>
            <a:ext cx="11328400" cy="368300"/>
          </a:xfrm>
          <a:prstGeom prst="rect">
            <a:avLst/>
          </a:prstGeom>
          <a:solidFill>
            <a:srgbClr val="C65A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33B8F1-98F3-6E5E-B291-7809145A3032}"/>
              </a:ext>
            </a:extLst>
          </p:cNvPr>
          <p:cNvSpPr txBox="1"/>
          <p:nvPr/>
        </p:nvSpPr>
        <p:spPr>
          <a:xfrm>
            <a:off x="698500" y="5689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i="1">
                <a:solidFill>
                  <a:srgbClr val="FFFCF4"/>
                </a:solidFill>
                <a:latin typeface="Georgia" panose="02040502050405020303" pitchFamily="18" charset="0"/>
              </a:rPr>
              <a:t>The gap is not distance. It is a missing 30-second data bridge.</a:t>
            </a:r>
            <a:endParaRPr lang="en-IN" sz="1400" b="1" i="1">
              <a:solidFill>
                <a:srgbClr val="FFFCF4"/>
              </a:solidFill>
              <a:latin typeface="Georgia" panose="02040502050405020303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E3438C-8A8B-0F9A-3750-13779EE4FB21}"/>
              </a:ext>
            </a:extLst>
          </p:cNvPr>
          <p:cNvSpPr txBox="1"/>
          <p:nvPr/>
        </p:nvSpPr>
        <p:spPr>
          <a:xfrm>
            <a:off x="431800" y="6172200"/>
            <a:ext cx="1132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680">
                <a:solidFill>
                  <a:srgbClr val="6F6F62"/>
                </a:solidFill>
                <a:latin typeface="Consolas" panose="020B0609020204030204" pitchFamily="49" charset="0"/>
              </a:rPr>
              <a:t>Context / UNEP Food Waste Index 2024: 1.05B tonnes wasted globally in 2022 · 132 kg per capita · ~1/5 of food available to consumers.</a:t>
            </a:r>
            <a:endParaRPr lang="en-IN" sz="680">
              <a:solidFill>
                <a:srgbClr val="6F6F62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399C94B-6C24-1C04-DE26-1EB8C922567A}"/>
              </a:ext>
            </a:extLst>
          </p:cNvPr>
          <p:cNvCxnSpPr/>
          <p:nvPr/>
        </p:nvCxnSpPr>
        <p:spPr>
          <a:xfrm>
            <a:off x="431800" y="6426200"/>
            <a:ext cx="11328400" cy="0"/>
          </a:xfrm>
          <a:prstGeom prst="line">
            <a:avLst/>
          </a:prstGeom>
          <a:ln w="698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E3AA57D-63C6-36C0-2A4A-D5E6FAD72DEB}"/>
              </a:ext>
            </a:extLst>
          </p:cNvPr>
          <p:cNvSpPr txBox="1"/>
          <p:nvPr/>
        </p:nvSpPr>
        <p:spPr>
          <a:xfrm>
            <a:off x="431800" y="6527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750" b="1">
                <a:solidFill>
                  <a:srgbClr val="6F6F62"/>
                </a:solidFill>
                <a:latin typeface="Consolas" panose="020B0609020204030204" pitchFamily="49" charset="0"/>
              </a:rPr>
              <a:t>SURPLUS-TO-SHELTER  /  TECH CYPHER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65E998-E2FA-8BF8-1637-440ECD43D9E0}"/>
              </a:ext>
            </a:extLst>
          </p:cNvPr>
          <p:cNvSpPr txBox="1"/>
          <p:nvPr/>
        </p:nvSpPr>
        <p:spPr>
          <a:xfrm>
            <a:off x="4445000" y="65278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750">
                <a:solidFill>
                  <a:srgbClr val="6F6F62"/>
                </a:solidFill>
                <a:latin typeface="Consolas" panose="020B0609020204030204" pitchFamily="49" charset="0"/>
              </a:rPr>
              <a:t>PROBLEM  /  ANATOMY OF A FAILING HANDOFF</a:t>
            </a:r>
            <a:endParaRPr lang="en-IN" sz="750">
              <a:solidFill>
                <a:srgbClr val="6F6F62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3691E5-8AA6-7D85-880E-8B9D474ED411}"/>
              </a:ext>
            </a:extLst>
          </p:cNvPr>
          <p:cNvSpPr txBox="1"/>
          <p:nvPr/>
        </p:nvSpPr>
        <p:spPr>
          <a:xfrm>
            <a:off x="10668000" y="65278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 b="1">
                <a:solidFill>
                  <a:srgbClr val="0F3F34"/>
                </a:solidFill>
                <a:latin typeface="Consolas" panose="020B0609020204030204" pitchFamily="49" charset="0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30739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112F50-7A0B-8D35-D5D2-AA43E0625BBC}"/>
              </a:ext>
            </a:extLst>
          </p:cNvPr>
          <p:cNvSpPr txBox="1"/>
          <p:nvPr/>
        </p:nvSpPr>
        <p:spPr>
          <a:xfrm>
            <a:off x="431800" y="2413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 b="1">
                <a:solidFill>
                  <a:srgbClr val="0F3F34"/>
                </a:solidFill>
                <a:latin typeface="Consolas" panose="020B0609020204030204" pitchFamily="49" charset="0"/>
              </a:rPr>
              <a:t>PRODUCT  /  UNIFIED COMMAND CENTER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1A846-E324-5BC2-A69D-FFF98C95B266}"/>
              </a:ext>
            </a:extLst>
          </p:cNvPr>
          <p:cNvSpPr txBox="1"/>
          <p:nvPr/>
        </p:nvSpPr>
        <p:spPr>
          <a:xfrm>
            <a:off x="6985000" y="241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850" b="1">
                <a:solidFill>
                  <a:srgbClr val="C65A37"/>
                </a:solidFill>
                <a:latin typeface="Consolas" panose="020B0609020204030204" pitchFamily="49" charset="0"/>
              </a:rPr>
              <a:t>LIVE NETLIFY WEB APP  /  FIREBASE</a:t>
            </a:r>
            <a:endParaRPr lang="en-IN" sz="850" b="1">
              <a:solidFill>
                <a:srgbClr val="C65A37"/>
              </a:solidFill>
              <a:latin typeface="Consolas" panose="020B0609020204030204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8425B7-81C7-5784-414D-FB2A69B34C21}"/>
              </a:ext>
            </a:extLst>
          </p:cNvPr>
          <p:cNvCxnSpPr/>
          <p:nvPr/>
        </p:nvCxnSpPr>
        <p:spPr>
          <a:xfrm>
            <a:off x="431800" y="546100"/>
            <a:ext cx="11328400" cy="0"/>
          </a:xfrm>
          <a:prstGeom prst="line">
            <a:avLst/>
          </a:prstGeom>
          <a:ln w="952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125CC48-029B-0966-48D2-6F51CBEBA183}"/>
              </a:ext>
            </a:extLst>
          </p:cNvPr>
          <p:cNvSpPr txBox="1"/>
          <p:nvPr/>
        </p:nvSpPr>
        <p:spPr>
          <a:xfrm>
            <a:off x="431800" y="876300"/>
            <a:ext cx="1132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D2A24"/>
                </a:solidFill>
                <a:latin typeface="Georgia" panose="02040502050405020303" pitchFamily="18" charset="0"/>
              </a:rPr>
              <a:t>The web app turns a rescue into a live dispatch decision.</a:t>
            </a:r>
            <a:endParaRPr lang="en-IN" sz="2400" b="1">
              <a:solidFill>
                <a:srgbClr val="1D2A24"/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33818-5693-5979-4820-FAFD414FCD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1625600"/>
            <a:ext cx="7429500" cy="4533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55DE8B-1063-2379-AACD-1DAC8CBB4A6A}"/>
              </a:ext>
            </a:extLst>
          </p:cNvPr>
          <p:cNvSpPr/>
          <p:nvPr/>
        </p:nvSpPr>
        <p:spPr>
          <a:xfrm>
            <a:off x="8191500" y="1625600"/>
            <a:ext cx="3568700" cy="4533900"/>
          </a:xfrm>
          <a:prstGeom prst="rect">
            <a:avLst/>
          </a:prstGeom>
          <a:solidFill>
            <a:srgbClr val="FCF9F0"/>
          </a:solidFill>
          <a:ln w="9525">
            <a:solidFill>
              <a:srgbClr val="C7BE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6B7FC-353E-3CEC-2FF1-C58B3C1E1AA5}"/>
              </a:ext>
            </a:extLst>
          </p:cNvPr>
          <p:cNvSpPr txBox="1"/>
          <p:nvPr/>
        </p:nvSpPr>
        <p:spPr>
          <a:xfrm>
            <a:off x="8445500" y="1879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800" b="1">
                <a:solidFill>
                  <a:srgbClr val="C65A37"/>
                </a:solidFill>
                <a:latin typeface="Consolas" panose="020B0609020204030204" pitchFamily="49" charset="0"/>
              </a:rPr>
              <a:t>MVP FLOW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5E6DDF-AC54-D7DC-1A7E-3AD02D4E92B2}"/>
              </a:ext>
            </a:extLst>
          </p:cNvPr>
          <p:cNvCxnSpPr/>
          <p:nvPr/>
        </p:nvCxnSpPr>
        <p:spPr>
          <a:xfrm>
            <a:off x="8445500" y="2108200"/>
            <a:ext cx="3060700" cy="0"/>
          </a:xfrm>
          <a:prstGeom prst="line">
            <a:avLst/>
          </a:prstGeom>
          <a:ln w="698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8AB853-7F1C-E772-8693-CA4BE3655F27}"/>
              </a:ext>
            </a:extLst>
          </p:cNvPr>
          <p:cNvSpPr txBox="1"/>
          <p:nvPr/>
        </p:nvSpPr>
        <p:spPr>
          <a:xfrm>
            <a:off x="8445500" y="22606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20" b="1">
                <a:solidFill>
                  <a:srgbClr val="6F6F62"/>
                </a:solidFill>
                <a:latin typeface="Consolas" panose="020B0609020204030204" pitchFamily="49" charset="0"/>
              </a:rPr>
              <a:t>01 / INTAKE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4CA115-5FD4-B375-EC3B-436AC048069D}"/>
              </a:ext>
            </a:extLst>
          </p:cNvPr>
          <p:cNvSpPr txBox="1"/>
          <p:nvPr/>
        </p:nvSpPr>
        <p:spPr>
          <a:xfrm>
            <a:off x="10096500" y="2260600"/>
            <a:ext cx="140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500" b="1">
                <a:solidFill>
                  <a:srgbClr val="C65A37"/>
                </a:solidFill>
                <a:latin typeface="Georgia" panose="02040502050405020303" pitchFamily="18" charset="0"/>
              </a:rPr>
              <a:t>&lt; 3 MIN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1C9025-7772-7E46-B7E0-478543D22CB9}"/>
              </a:ext>
            </a:extLst>
          </p:cNvPr>
          <p:cNvSpPr txBox="1"/>
          <p:nvPr/>
        </p:nvSpPr>
        <p:spPr>
          <a:xfrm>
            <a:off x="8445500" y="2514600"/>
            <a:ext cx="306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1D2A24"/>
                </a:solidFill>
                <a:latin typeface="Aptos" panose="020B0004020202020204" pitchFamily="34" charset="0"/>
              </a:rPr>
              <a:t>Food item, kg, expiry window</a:t>
            </a:r>
            <a:endParaRPr lang="en-IN" sz="850">
              <a:solidFill>
                <a:srgbClr val="1D2A24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CF20B0-471D-1580-EAEE-D62EC73F4E66}"/>
              </a:ext>
            </a:extLst>
          </p:cNvPr>
          <p:cNvCxnSpPr/>
          <p:nvPr/>
        </p:nvCxnSpPr>
        <p:spPr>
          <a:xfrm>
            <a:off x="8445500" y="3022600"/>
            <a:ext cx="3060700" cy="0"/>
          </a:xfrm>
          <a:prstGeom prst="line">
            <a:avLst/>
          </a:prstGeom>
          <a:ln w="698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0026C1F-8D83-F4AE-3C5C-3FD3773EA2A5}"/>
              </a:ext>
            </a:extLst>
          </p:cNvPr>
          <p:cNvSpPr txBox="1"/>
          <p:nvPr/>
        </p:nvSpPr>
        <p:spPr>
          <a:xfrm>
            <a:off x="8445500" y="31750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20" b="1">
                <a:solidFill>
                  <a:srgbClr val="6F6F62"/>
                </a:solidFill>
                <a:latin typeface="Consolas" panose="020B0609020204030204" pitchFamily="49" charset="0"/>
              </a:rPr>
              <a:t>02 / TRIAGE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F88BC0-3C23-9E90-B632-C0CEF66F093D}"/>
              </a:ext>
            </a:extLst>
          </p:cNvPr>
          <p:cNvSpPr txBox="1"/>
          <p:nvPr/>
        </p:nvSpPr>
        <p:spPr>
          <a:xfrm>
            <a:off x="10096500" y="3175000"/>
            <a:ext cx="140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500" b="1">
                <a:solidFill>
                  <a:srgbClr val="C65A37"/>
                </a:solidFill>
                <a:latin typeface="Georgia" panose="02040502050405020303" pitchFamily="18" charset="0"/>
              </a:rPr>
              <a:t>&lt; 2 HRS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25DF1A-B5F9-6461-B58E-CE83AD600CCC}"/>
              </a:ext>
            </a:extLst>
          </p:cNvPr>
          <p:cNvSpPr txBox="1"/>
          <p:nvPr/>
        </p:nvSpPr>
        <p:spPr>
          <a:xfrm>
            <a:off x="8445500" y="3429000"/>
            <a:ext cx="306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1D2A24"/>
                </a:solidFill>
                <a:latin typeface="Aptos" panose="020B0004020202020204" pitchFamily="34" charset="0"/>
              </a:rPr>
              <a:t>Urgent food flags in red</a:t>
            </a:r>
            <a:endParaRPr lang="en-IN" sz="850">
              <a:solidFill>
                <a:srgbClr val="1D2A24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E7F865-09F0-B154-D00B-1AE17B41E00D}"/>
              </a:ext>
            </a:extLst>
          </p:cNvPr>
          <p:cNvCxnSpPr/>
          <p:nvPr/>
        </p:nvCxnSpPr>
        <p:spPr>
          <a:xfrm>
            <a:off x="8445500" y="3937000"/>
            <a:ext cx="3060700" cy="0"/>
          </a:xfrm>
          <a:prstGeom prst="line">
            <a:avLst/>
          </a:prstGeom>
          <a:ln w="698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47854C0-E647-9975-095B-50477E90319B}"/>
              </a:ext>
            </a:extLst>
          </p:cNvPr>
          <p:cNvSpPr txBox="1"/>
          <p:nvPr/>
        </p:nvSpPr>
        <p:spPr>
          <a:xfrm>
            <a:off x="8445500" y="40894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20" b="1">
                <a:solidFill>
                  <a:srgbClr val="6F6F62"/>
                </a:solidFill>
                <a:latin typeface="Consolas" panose="020B0609020204030204" pitchFamily="49" charset="0"/>
              </a:rPr>
              <a:t>03 / DISPATCH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719BA5-9807-B2E6-7F5F-75975DB6CAB5}"/>
              </a:ext>
            </a:extLst>
          </p:cNvPr>
          <p:cNvSpPr txBox="1"/>
          <p:nvPr/>
        </p:nvSpPr>
        <p:spPr>
          <a:xfrm>
            <a:off x="10096500" y="4089400"/>
            <a:ext cx="140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500" b="1">
                <a:solidFill>
                  <a:srgbClr val="C65A37"/>
                </a:solidFill>
                <a:latin typeface="Georgia" panose="02040502050405020303" pitchFamily="18" charset="0"/>
              </a:rPr>
              <a:t>50 KG CAP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338B19-4B1A-BE24-205D-13E1FAFAD807}"/>
              </a:ext>
            </a:extLst>
          </p:cNvPr>
          <p:cNvSpPr txBox="1"/>
          <p:nvPr/>
        </p:nvSpPr>
        <p:spPr>
          <a:xfrm>
            <a:off x="8445500" y="4343400"/>
            <a:ext cx="306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1D2A24"/>
                </a:solidFill>
                <a:latin typeface="Aptos" panose="020B0004020202020204" pitchFamily="34" charset="0"/>
              </a:rPr>
              <a:t>Capacity-aware route; status flips to DISPATCHED</a:t>
            </a:r>
            <a:endParaRPr lang="en-IN" sz="850">
              <a:solidFill>
                <a:srgbClr val="1D2A24"/>
              </a:solidFill>
              <a:latin typeface="Aptos" panose="020B0004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792EBF-F3A7-D857-A88A-F404C30D5C2E}"/>
              </a:ext>
            </a:extLst>
          </p:cNvPr>
          <p:cNvCxnSpPr/>
          <p:nvPr/>
        </p:nvCxnSpPr>
        <p:spPr>
          <a:xfrm>
            <a:off x="8445500" y="4851400"/>
            <a:ext cx="3060700" cy="0"/>
          </a:xfrm>
          <a:prstGeom prst="line">
            <a:avLst/>
          </a:prstGeom>
          <a:ln w="698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D6D8EB2-7475-0B59-B3C8-5A708B781376}"/>
              </a:ext>
            </a:extLst>
          </p:cNvPr>
          <p:cNvSpPr txBox="1"/>
          <p:nvPr/>
        </p:nvSpPr>
        <p:spPr>
          <a:xfrm>
            <a:off x="8445500" y="50038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20" b="1">
                <a:solidFill>
                  <a:srgbClr val="6F6F62"/>
                </a:solidFill>
                <a:latin typeface="Consolas" panose="020B0609020204030204" pitchFamily="49" charset="0"/>
              </a:rPr>
              <a:t>LIVE / 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75A664-06D6-0A73-5D0A-CCEFA324DBA7}"/>
              </a:ext>
            </a:extLst>
          </p:cNvPr>
          <p:cNvSpPr txBox="1"/>
          <p:nvPr/>
        </p:nvSpPr>
        <p:spPr>
          <a:xfrm>
            <a:off x="10096500" y="5003800"/>
            <a:ext cx="140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500" b="1">
                <a:solidFill>
                  <a:srgbClr val="C65A37"/>
                </a:solidFill>
                <a:latin typeface="Georgia" panose="02040502050405020303" pitchFamily="18" charset="0"/>
              </a:rPr>
              <a:t>LIVE SYNC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D79853-78AF-C264-A503-4B018A57E073}"/>
              </a:ext>
            </a:extLst>
          </p:cNvPr>
          <p:cNvSpPr txBox="1"/>
          <p:nvPr/>
        </p:nvSpPr>
        <p:spPr>
          <a:xfrm>
            <a:off x="8445500" y="5257800"/>
            <a:ext cx="306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1D2A24"/>
                </a:solidFill>
                <a:latin typeface="Aptos" panose="020B0004020202020204" pitchFamily="34" charset="0"/>
              </a:rPr>
              <a:t>onSnapshot real-time sync without page reloads</a:t>
            </a:r>
            <a:endParaRPr lang="en-IN" sz="850">
              <a:solidFill>
                <a:srgbClr val="1D2A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C13F4B-74BF-0A79-1C97-284A600676DF}"/>
              </a:ext>
            </a:extLst>
          </p:cNvPr>
          <p:cNvSpPr/>
          <p:nvPr/>
        </p:nvSpPr>
        <p:spPr>
          <a:xfrm>
            <a:off x="431800" y="6388100"/>
            <a:ext cx="11328400" cy="12700"/>
          </a:xfrm>
          <a:prstGeom prst="rect">
            <a:avLst/>
          </a:prstGeom>
          <a:solidFill>
            <a:srgbClr val="C7BE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C0674A-1D6F-79CA-28FB-A375C6F12183}"/>
              </a:ext>
            </a:extLst>
          </p:cNvPr>
          <p:cNvSpPr txBox="1"/>
          <p:nvPr/>
        </p:nvSpPr>
        <p:spPr>
          <a:xfrm>
            <a:off x="431800" y="6184900"/>
            <a:ext cx="1132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700" b="1">
                <a:solidFill>
                  <a:srgbClr val="6F6F62"/>
                </a:solidFill>
                <a:latin typeface="Consolas" panose="020B0609020204030204" pitchFamily="49" charset="0"/>
              </a:rPr>
              <a:t>BUILT WITH VANILLA HTML  ·  TAILWIND CDN  ·  FIREBASE FIRESTORE V10  ·  LOCAL FALLBACK READY</a:t>
            </a:r>
            <a:endParaRPr lang="en-IN" sz="700" b="1">
              <a:solidFill>
                <a:srgbClr val="6F6F62"/>
              </a:solidFill>
              <a:latin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315DBB-E6E1-A6F4-34A9-1784D09EDF24}"/>
              </a:ext>
            </a:extLst>
          </p:cNvPr>
          <p:cNvCxnSpPr/>
          <p:nvPr/>
        </p:nvCxnSpPr>
        <p:spPr>
          <a:xfrm>
            <a:off x="431800" y="6426200"/>
            <a:ext cx="11328400" cy="0"/>
          </a:xfrm>
          <a:prstGeom prst="line">
            <a:avLst/>
          </a:prstGeom>
          <a:ln w="698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22A60C8-836D-BC4D-2688-33858F6E8519}"/>
              </a:ext>
            </a:extLst>
          </p:cNvPr>
          <p:cNvSpPr txBox="1"/>
          <p:nvPr/>
        </p:nvSpPr>
        <p:spPr>
          <a:xfrm>
            <a:off x="431800" y="6527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750" b="1">
                <a:solidFill>
                  <a:srgbClr val="6F6F62"/>
                </a:solidFill>
                <a:latin typeface="Consolas" panose="020B0609020204030204" pitchFamily="49" charset="0"/>
              </a:rPr>
              <a:t>SURPLUS-TO-SHELTER  /  TECH CYPHER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6B9EDB-29E1-D583-C69D-BC3987D2C338}"/>
              </a:ext>
            </a:extLst>
          </p:cNvPr>
          <p:cNvSpPr txBox="1"/>
          <p:nvPr/>
        </p:nvSpPr>
        <p:spPr>
          <a:xfrm>
            <a:off x="4445000" y="65278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>
                <a:solidFill>
                  <a:srgbClr val="6F6F62"/>
                </a:solidFill>
                <a:latin typeface="Consolas" panose="020B0609020204030204" pitchFamily="49" charset="0"/>
              </a:rPr>
              <a:t>PRODUCT  /  INTAKE → TRIAGE → DISPATCH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CE0C32-D6BC-D81F-4CD3-6FFEE134EB71}"/>
              </a:ext>
            </a:extLst>
          </p:cNvPr>
          <p:cNvSpPr txBox="1"/>
          <p:nvPr/>
        </p:nvSpPr>
        <p:spPr>
          <a:xfrm>
            <a:off x="10668000" y="65278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 b="1">
                <a:solidFill>
                  <a:srgbClr val="0F3F34"/>
                </a:solidFill>
                <a:latin typeface="Consolas" panose="020B0609020204030204" pitchFamily="49" charset="0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3504806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DBA31C-6D31-8E09-8B26-C10FBDCA53B9}"/>
              </a:ext>
            </a:extLst>
          </p:cNvPr>
          <p:cNvSpPr txBox="1"/>
          <p:nvPr/>
        </p:nvSpPr>
        <p:spPr>
          <a:xfrm>
            <a:off x="431800" y="2413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 b="1">
                <a:solidFill>
                  <a:srgbClr val="0F3F34"/>
                </a:solidFill>
                <a:latin typeface="Consolas" panose="020B0609020204030204" pitchFamily="49" charset="0"/>
              </a:rPr>
              <a:t>CORE SOLUTION  / 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5E418-641F-923E-6F2D-79C012E4AC62}"/>
              </a:ext>
            </a:extLst>
          </p:cNvPr>
          <p:cNvSpPr txBox="1"/>
          <p:nvPr/>
        </p:nvSpPr>
        <p:spPr>
          <a:xfrm>
            <a:off x="6985000" y="241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850" b="1">
                <a:solidFill>
                  <a:srgbClr val="C65A37"/>
                </a:solidFill>
                <a:latin typeface="Consolas" panose="020B0609020204030204" pitchFamily="49" charset="0"/>
              </a:rPr>
              <a:t>ONE EVENT  /  ONE STATE  /  ONE LIVE BOARD</a:t>
            </a:r>
            <a:endParaRPr lang="en-IN" sz="850" b="1">
              <a:solidFill>
                <a:srgbClr val="C65A37"/>
              </a:solidFill>
              <a:latin typeface="Consolas" panose="020B0609020204030204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AFC171-C86D-9FFD-B9EF-B41BF794F846}"/>
              </a:ext>
            </a:extLst>
          </p:cNvPr>
          <p:cNvCxnSpPr/>
          <p:nvPr/>
        </p:nvCxnSpPr>
        <p:spPr>
          <a:xfrm>
            <a:off x="431800" y="546100"/>
            <a:ext cx="11328400" cy="0"/>
          </a:xfrm>
          <a:prstGeom prst="line">
            <a:avLst/>
          </a:prstGeom>
          <a:ln w="952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18CFB0-7AAD-17CC-3F6B-5CC6254FA344}"/>
              </a:ext>
            </a:extLst>
          </p:cNvPr>
          <p:cNvSpPr txBox="1"/>
          <p:nvPr/>
        </p:nvSpPr>
        <p:spPr>
          <a:xfrm>
            <a:off x="431800" y="889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600" b="1">
                <a:solidFill>
                  <a:srgbClr val="FCF9F0"/>
                </a:solidFill>
                <a:latin typeface="Georgia" panose="02040502050405020303" pitchFamily="18" charset="0"/>
              </a:rPr>
              <a:t>A pipeline that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8A7BD5-50B6-F406-E3B0-28CAAC91EACA}"/>
              </a:ext>
            </a:extLst>
          </p:cNvPr>
          <p:cNvSpPr txBox="1"/>
          <p:nvPr/>
        </p:nvSpPr>
        <p:spPr>
          <a:xfrm>
            <a:off x="5537200" y="8890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600" b="1" i="1">
                <a:solidFill>
                  <a:srgbClr val="C65A37"/>
                </a:solidFill>
                <a:latin typeface="Georgia" panose="02040502050405020303" pitchFamily="18" charset="0"/>
              </a:rPr>
              <a:t>beats biological decay.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5BC51-B15C-546B-E28D-E47F8E6EFD10}"/>
              </a:ext>
            </a:extLst>
          </p:cNvPr>
          <p:cNvSpPr txBox="1"/>
          <p:nvPr/>
        </p:nvSpPr>
        <p:spPr>
          <a:xfrm>
            <a:off x="431800" y="16383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6F6F62"/>
                </a:solidFill>
                <a:latin typeface="Aptos" panose="020B0004020202020204" pitchFamily="34" charset="0"/>
              </a:rPr>
              <a:t>The product turns a donor handoff into a timed, capacity-aware decision.</a:t>
            </a:r>
            <a:endParaRPr lang="en-IN" sz="100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4B8D46-C52C-A492-4D98-193B76364598}"/>
              </a:ext>
            </a:extLst>
          </p:cNvPr>
          <p:cNvSpPr/>
          <p:nvPr/>
        </p:nvSpPr>
        <p:spPr>
          <a:xfrm>
            <a:off x="431800" y="2247900"/>
            <a:ext cx="2413000" cy="368300"/>
          </a:xfrm>
          <a:prstGeom prst="roundRect">
            <a:avLst/>
          </a:prstGeom>
          <a:solidFill>
            <a:srgbClr val="F2D2D0"/>
          </a:solidFill>
          <a:ln w="9525">
            <a:solidFill>
              <a:srgbClr val="0F3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A3E34-5C5F-39D3-C0A4-66CB140EF106}"/>
              </a:ext>
            </a:extLst>
          </p:cNvPr>
          <p:cNvSpPr txBox="1"/>
          <p:nvPr/>
        </p:nvSpPr>
        <p:spPr>
          <a:xfrm>
            <a:off x="546100" y="23495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740" b="1">
                <a:solidFill>
                  <a:srgbClr val="0F3F34"/>
                </a:solidFill>
                <a:latin typeface="Consolas" panose="020B0609020204030204" pitchFamily="49" charset="0"/>
              </a:rPr>
              <a:t>DONOR INTAKE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CDE9D2-24EA-4A41-E21D-03243371603E}"/>
              </a:ext>
            </a:extLst>
          </p:cNvPr>
          <p:cNvCxnSpPr/>
          <p:nvPr/>
        </p:nvCxnSpPr>
        <p:spPr>
          <a:xfrm>
            <a:off x="2844800" y="2425700"/>
            <a:ext cx="368300" cy="0"/>
          </a:xfrm>
          <a:prstGeom prst="line">
            <a:avLst/>
          </a:prstGeom>
          <a:ln w="15240">
            <a:solidFill>
              <a:srgbClr val="C65A3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16E3FF-E8A9-05A2-D4F2-967869B42966}"/>
              </a:ext>
            </a:extLst>
          </p:cNvPr>
          <p:cNvSpPr/>
          <p:nvPr/>
        </p:nvSpPr>
        <p:spPr>
          <a:xfrm>
            <a:off x="3238500" y="2247900"/>
            <a:ext cx="2413000" cy="368300"/>
          </a:xfrm>
          <a:prstGeom prst="roundRect">
            <a:avLst/>
          </a:prstGeom>
          <a:solidFill>
            <a:srgbClr val="F2D2D0"/>
          </a:solidFill>
          <a:ln w="9525">
            <a:solidFill>
              <a:srgbClr val="0F3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B820B1-C08A-23D1-74D0-91DFCFE965DE}"/>
              </a:ext>
            </a:extLst>
          </p:cNvPr>
          <p:cNvSpPr txBox="1"/>
          <p:nvPr/>
        </p:nvSpPr>
        <p:spPr>
          <a:xfrm>
            <a:off x="3352800" y="23495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740" b="1">
                <a:solidFill>
                  <a:srgbClr val="0F3F34"/>
                </a:solidFill>
                <a:latin typeface="Consolas" panose="020B0609020204030204" pitchFamily="49" charset="0"/>
              </a:rPr>
              <a:t>EXPIRY TRIAGE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A394E7-8D08-B4DD-604E-2D0BECBC2D88}"/>
              </a:ext>
            </a:extLst>
          </p:cNvPr>
          <p:cNvCxnSpPr/>
          <p:nvPr/>
        </p:nvCxnSpPr>
        <p:spPr>
          <a:xfrm>
            <a:off x="5651500" y="2425700"/>
            <a:ext cx="368300" cy="0"/>
          </a:xfrm>
          <a:prstGeom prst="line">
            <a:avLst/>
          </a:prstGeom>
          <a:ln w="15240">
            <a:solidFill>
              <a:srgbClr val="C65A3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E19095-EE07-C884-E672-44394C7CC6B3}"/>
              </a:ext>
            </a:extLst>
          </p:cNvPr>
          <p:cNvSpPr/>
          <p:nvPr/>
        </p:nvSpPr>
        <p:spPr>
          <a:xfrm>
            <a:off x="6045200" y="2247900"/>
            <a:ext cx="2413000" cy="368300"/>
          </a:xfrm>
          <a:prstGeom prst="roundRect">
            <a:avLst/>
          </a:prstGeom>
          <a:solidFill>
            <a:srgbClr val="F2D2D0"/>
          </a:solidFill>
          <a:ln w="9525">
            <a:solidFill>
              <a:srgbClr val="0F3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4AEE8F-FA17-740A-68BB-F183D78CD2C2}"/>
              </a:ext>
            </a:extLst>
          </p:cNvPr>
          <p:cNvSpPr txBox="1"/>
          <p:nvPr/>
        </p:nvSpPr>
        <p:spPr>
          <a:xfrm>
            <a:off x="6159500" y="23495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740" b="1">
                <a:solidFill>
                  <a:srgbClr val="0F3F34"/>
                </a:solidFill>
                <a:latin typeface="Consolas" panose="020B0609020204030204" pitchFamily="49" charset="0"/>
              </a:rPr>
              <a:t>CAPACITY MATCH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71547C-3ECE-5B40-7C80-E14678AB6FFC}"/>
              </a:ext>
            </a:extLst>
          </p:cNvPr>
          <p:cNvCxnSpPr/>
          <p:nvPr/>
        </p:nvCxnSpPr>
        <p:spPr>
          <a:xfrm>
            <a:off x="8458200" y="2425700"/>
            <a:ext cx="368300" cy="0"/>
          </a:xfrm>
          <a:prstGeom prst="line">
            <a:avLst/>
          </a:prstGeom>
          <a:ln w="15240">
            <a:solidFill>
              <a:srgbClr val="C65A3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5030903-A6A4-0DF7-C504-7652DB64FFD0}"/>
              </a:ext>
            </a:extLst>
          </p:cNvPr>
          <p:cNvSpPr/>
          <p:nvPr/>
        </p:nvSpPr>
        <p:spPr>
          <a:xfrm>
            <a:off x="8851900" y="2247900"/>
            <a:ext cx="2413000" cy="368300"/>
          </a:xfrm>
          <a:prstGeom prst="roundRect">
            <a:avLst/>
          </a:prstGeom>
          <a:solidFill>
            <a:srgbClr val="F2D2D0"/>
          </a:solidFill>
          <a:ln w="9525">
            <a:solidFill>
              <a:srgbClr val="0F3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7D291C-3882-AFE8-FD90-6A700290066A}"/>
              </a:ext>
            </a:extLst>
          </p:cNvPr>
          <p:cNvSpPr txBox="1"/>
          <p:nvPr/>
        </p:nvSpPr>
        <p:spPr>
          <a:xfrm>
            <a:off x="8966200" y="23495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740" b="1">
                <a:solidFill>
                  <a:srgbClr val="0F3F34"/>
                </a:solidFill>
                <a:latin typeface="Consolas" panose="020B0609020204030204" pitchFamily="49" charset="0"/>
              </a:rPr>
              <a:t>DRIVER DISPATCH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168E38-A40F-DABD-97E5-8AF4EE9114C5}"/>
              </a:ext>
            </a:extLst>
          </p:cNvPr>
          <p:cNvSpPr/>
          <p:nvPr/>
        </p:nvSpPr>
        <p:spPr>
          <a:xfrm>
            <a:off x="431800" y="2946400"/>
            <a:ext cx="3403600" cy="1816100"/>
          </a:xfrm>
          <a:prstGeom prst="rect">
            <a:avLst/>
          </a:prstGeom>
          <a:solidFill>
            <a:srgbClr val="FCF9F0"/>
          </a:solidFill>
          <a:ln w="9525">
            <a:solidFill>
              <a:srgbClr val="C65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E0B67B-E89C-4930-7D2E-87F53B1E5669}"/>
              </a:ext>
            </a:extLst>
          </p:cNvPr>
          <p:cNvSpPr txBox="1"/>
          <p:nvPr/>
        </p:nvSpPr>
        <p:spPr>
          <a:xfrm>
            <a:off x="622300" y="3149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30" b="1">
                <a:solidFill>
                  <a:srgbClr val="C65A37"/>
                </a:solidFill>
                <a:latin typeface="Consolas" panose="020B0609020204030204" pitchFamily="49" charset="0"/>
              </a:rPr>
              <a:t>01  /  FEATURE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C83258-AF59-E90B-2F45-7EC42BD1E80B}"/>
              </a:ext>
            </a:extLst>
          </p:cNvPr>
          <p:cNvSpPr txBox="1"/>
          <p:nvPr/>
        </p:nvSpPr>
        <p:spPr>
          <a:xfrm>
            <a:off x="622300" y="34671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300" b="1">
                <a:solidFill>
                  <a:srgbClr val="0F3F34"/>
                </a:solidFill>
                <a:latin typeface="Georgia" panose="02040502050405020303" pitchFamily="18" charset="0"/>
              </a:rPr>
              <a:t>&lt; 3 MIN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62C4BE-6020-9D33-EC19-E71F5996A5AC}"/>
              </a:ext>
            </a:extLst>
          </p:cNvPr>
          <p:cNvSpPr txBox="1"/>
          <p:nvPr/>
        </p:nvSpPr>
        <p:spPr>
          <a:xfrm>
            <a:off x="622300" y="4025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20" b="1">
                <a:solidFill>
                  <a:srgbClr val="1D2A24"/>
                </a:solidFill>
                <a:latin typeface="Aptos" panose="020B0004020202020204" pitchFamily="34" charset="0"/>
              </a:rPr>
              <a:t>Frictionless donor intake form.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26F53F-56D1-E8B3-9463-EC6DE4249564}"/>
              </a:ext>
            </a:extLst>
          </p:cNvPr>
          <p:cNvSpPr txBox="1"/>
          <p:nvPr/>
        </p:nvSpPr>
        <p:spPr>
          <a:xfrm>
            <a:off x="622300" y="44958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750">
                <a:solidFill>
                  <a:srgbClr val="6F6F62"/>
                </a:solidFill>
                <a:latin typeface="Aptos" panose="020B0004020202020204" pitchFamily="34" charset="0"/>
              </a:rPr>
              <a:t>A 1-minute intake captures food item, quantity, and expiry window.</a:t>
            </a:r>
            <a:endParaRPr lang="en-IN" sz="75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A4387F-0099-44D3-AC44-69878D459737}"/>
              </a:ext>
            </a:extLst>
          </p:cNvPr>
          <p:cNvSpPr/>
          <p:nvPr/>
        </p:nvSpPr>
        <p:spPr>
          <a:xfrm>
            <a:off x="4368800" y="2946400"/>
            <a:ext cx="3403600" cy="1816100"/>
          </a:xfrm>
          <a:prstGeom prst="rect">
            <a:avLst/>
          </a:prstGeom>
          <a:solidFill>
            <a:srgbClr val="FCF9F0"/>
          </a:solidFill>
          <a:ln w="9525">
            <a:solidFill>
              <a:srgbClr val="C65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54087B-F3FD-8A70-30E5-20E9FF9706F5}"/>
              </a:ext>
            </a:extLst>
          </p:cNvPr>
          <p:cNvSpPr txBox="1"/>
          <p:nvPr/>
        </p:nvSpPr>
        <p:spPr>
          <a:xfrm>
            <a:off x="4559300" y="3149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30" b="1">
                <a:solidFill>
                  <a:srgbClr val="C65A37"/>
                </a:solidFill>
                <a:latin typeface="Consolas" panose="020B0609020204030204" pitchFamily="49" charset="0"/>
              </a:rPr>
              <a:t>02  /  FEATURE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93BA9F-5532-823C-9679-82A2B03C3F99}"/>
              </a:ext>
            </a:extLst>
          </p:cNvPr>
          <p:cNvSpPr txBox="1"/>
          <p:nvPr/>
        </p:nvSpPr>
        <p:spPr>
          <a:xfrm>
            <a:off x="4559300" y="34671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300" b="1">
                <a:solidFill>
                  <a:srgbClr val="0F3F34"/>
                </a:solidFill>
                <a:latin typeface="Georgia" panose="02040502050405020303" pitchFamily="18" charset="0"/>
              </a:rPr>
              <a:t>&lt; 2 HRS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8D9B83-0B34-9BFA-0442-77CACFB06818}"/>
              </a:ext>
            </a:extLst>
          </p:cNvPr>
          <p:cNvSpPr txBox="1"/>
          <p:nvPr/>
        </p:nvSpPr>
        <p:spPr>
          <a:xfrm>
            <a:off x="4559300" y="4025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20" b="1">
                <a:solidFill>
                  <a:srgbClr val="1D2A24"/>
                </a:solidFill>
                <a:latin typeface="Aptos" panose="020B0004020202020204" pitchFamily="34" charset="0"/>
              </a:rPr>
              <a:t>Expiry triage engine flags urgent food in red.</a:t>
            </a:r>
            <a:endParaRPr lang="en-IN" sz="1020" b="1">
              <a:solidFill>
                <a:srgbClr val="1D2A24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38D239-8132-9949-1E89-D6526049EC9B}"/>
              </a:ext>
            </a:extLst>
          </p:cNvPr>
          <p:cNvSpPr txBox="1"/>
          <p:nvPr/>
        </p:nvSpPr>
        <p:spPr>
          <a:xfrm>
            <a:off x="4559300" y="44958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750">
                <a:solidFill>
                  <a:srgbClr val="6F6F62"/>
                </a:solidFill>
                <a:latin typeface="Aptos" panose="020B0004020202020204" pitchFamily="34" charset="0"/>
              </a:rPr>
              <a:t>The 2–6 hour spoilage window becomes a red, time-stamped decision lane.</a:t>
            </a:r>
            <a:endParaRPr lang="en-IN" sz="75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CCFCC5-8921-2C8E-1DFE-43ADEE14AD28}"/>
              </a:ext>
            </a:extLst>
          </p:cNvPr>
          <p:cNvSpPr/>
          <p:nvPr/>
        </p:nvSpPr>
        <p:spPr>
          <a:xfrm>
            <a:off x="8305800" y="2946400"/>
            <a:ext cx="3403600" cy="1816100"/>
          </a:xfrm>
          <a:prstGeom prst="rect">
            <a:avLst/>
          </a:prstGeom>
          <a:solidFill>
            <a:srgbClr val="FCF9F0"/>
          </a:solidFill>
          <a:ln w="9525">
            <a:solidFill>
              <a:srgbClr val="C65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82466A-156D-8A8B-08B0-9FB62BFB0664}"/>
              </a:ext>
            </a:extLst>
          </p:cNvPr>
          <p:cNvSpPr txBox="1"/>
          <p:nvPr/>
        </p:nvSpPr>
        <p:spPr>
          <a:xfrm>
            <a:off x="8496300" y="3149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30" b="1">
                <a:solidFill>
                  <a:srgbClr val="C65A37"/>
                </a:solidFill>
                <a:latin typeface="Consolas" panose="020B0609020204030204" pitchFamily="49" charset="0"/>
              </a:rPr>
              <a:t>03  /  FEATURE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BF82D7-84FD-27B1-7F29-F0D4899B45B4}"/>
              </a:ext>
            </a:extLst>
          </p:cNvPr>
          <p:cNvSpPr txBox="1"/>
          <p:nvPr/>
        </p:nvSpPr>
        <p:spPr>
          <a:xfrm>
            <a:off x="8496300" y="34671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300" b="1">
                <a:solidFill>
                  <a:srgbClr val="0F3F34"/>
                </a:solidFill>
                <a:latin typeface="Georgia" panose="02040502050405020303" pitchFamily="18" charset="0"/>
              </a:rPr>
              <a:t>50 KG CAP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0F66C1-343C-AB3D-CA12-0C196A0AC3A3}"/>
              </a:ext>
            </a:extLst>
          </p:cNvPr>
          <p:cNvSpPr txBox="1"/>
          <p:nvPr/>
        </p:nvSpPr>
        <p:spPr>
          <a:xfrm>
            <a:off x="8496300" y="4025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20" b="1">
                <a:solidFill>
                  <a:srgbClr val="1D2A24"/>
                </a:solidFill>
                <a:latin typeface="Aptos" panose="020B0004020202020204" pitchFamily="34" charset="0"/>
              </a:rPr>
              <a:t>Capacity-aware dispatch prevents secondary dumping.</a:t>
            </a:r>
            <a:endParaRPr lang="en-IN" sz="1020" b="1">
              <a:solidFill>
                <a:srgbClr val="1D2A24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BA7388-E8F2-B043-7615-94368450CC8B}"/>
              </a:ext>
            </a:extLst>
          </p:cNvPr>
          <p:cNvSpPr txBox="1"/>
          <p:nvPr/>
        </p:nvSpPr>
        <p:spPr>
          <a:xfrm>
            <a:off x="8496300" y="44958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750">
                <a:solidFill>
                  <a:srgbClr val="6F6F62"/>
                </a:solidFill>
                <a:latin typeface="Aptos" panose="020B0004020202020204" pitchFamily="34" charset="0"/>
              </a:rPr>
              <a:t>The cap keeps one shelter from receiving a bag it cannot safely store.</a:t>
            </a:r>
            <a:endParaRPr lang="en-IN" sz="75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5B7B67-4A8F-0312-1D36-43421A1387A9}"/>
              </a:ext>
            </a:extLst>
          </p:cNvPr>
          <p:cNvSpPr txBox="1"/>
          <p:nvPr/>
        </p:nvSpPr>
        <p:spPr>
          <a:xfrm>
            <a:off x="431800" y="51435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50" b="1">
                <a:solidFill>
                  <a:srgbClr val="C65A37"/>
                </a:solidFill>
                <a:latin typeface="Consolas" panose="020B0609020204030204" pitchFamily="49" charset="0"/>
              </a:rPr>
              <a:t>FAILURE HANDLING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435C6C-7F64-06CA-5780-4FAB7E4E9A4F}"/>
              </a:ext>
            </a:extLst>
          </p:cNvPr>
          <p:cNvSpPr/>
          <p:nvPr/>
        </p:nvSpPr>
        <p:spPr>
          <a:xfrm>
            <a:off x="431800" y="5435600"/>
            <a:ext cx="3403600" cy="685800"/>
          </a:xfrm>
          <a:prstGeom prst="rect">
            <a:avLst/>
          </a:prstGeom>
          <a:solidFill>
            <a:srgbClr val="0A2720"/>
          </a:solidFill>
          <a:ln w="9525">
            <a:solidFill>
              <a:srgbClr val="C65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354093-C987-3186-ED57-2105F5831C56}"/>
              </a:ext>
            </a:extLst>
          </p:cNvPr>
          <p:cNvSpPr txBox="1"/>
          <p:nvPr/>
        </p:nvSpPr>
        <p:spPr>
          <a:xfrm>
            <a:off x="596900" y="55626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40" b="1">
                <a:solidFill>
                  <a:srgbClr val="FCF9F0"/>
                </a:solidFill>
                <a:latin typeface="Aptos" panose="020B0004020202020204" pitchFamily="34" charset="0"/>
              </a:rPr>
              <a:t>Spoilage Cut-off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DA16FE-3567-2F7B-208B-5F7DA7BCED06}"/>
              </a:ext>
            </a:extLst>
          </p:cNvPr>
          <p:cNvSpPr txBox="1"/>
          <p:nvPr/>
        </p:nvSpPr>
        <p:spPr>
          <a:xfrm>
            <a:off x="596900" y="58166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720">
                <a:solidFill>
                  <a:srgbClr val="6F6F62"/>
                </a:solidFill>
                <a:latin typeface="Aptos" panose="020B0004020202020204" pitchFamily="34" charset="0"/>
              </a:rPr>
              <a:t>Auto-cancel dispatch if shelf-life drops under 45 mins. Zero liability.</a:t>
            </a:r>
            <a:endParaRPr lang="en-IN" sz="72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F2C13D-422E-8C25-3283-05DDDDC4ADEE}"/>
              </a:ext>
            </a:extLst>
          </p:cNvPr>
          <p:cNvSpPr/>
          <p:nvPr/>
        </p:nvSpPr>
        <p:spPr>
          <a:xfrm>
            <a:off x="4368800" y="5435600"/>
            <a:ext cx="3403600" cy="685800"/>
          </a:xfrm>
          <a:prstGeom prst="rect">
            <a:avLst/>
          </a:prstGeom>
          <a:solidFill>
            <a:srgbClr val="0A2720"/>
          </a:solidFill>
          <a:ln w="9525">
            <a:solidFill>
              <a:srgbClr val="C65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7B1C69-3821-0436-8C1C-6CE2EB32A033}"/>
              </a:ext>
            </a:extLst>
          </p:cNvPr>
          <p:cNvSpPr txBox="1"/>
          <p:nvPr/>
        </p:nvSpPr>
        <p:spPr>
          <a:xfrm>
            <a:off x="4533900" y="55626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40" b="1">
                <a:solidFill>
                  <a:srgbClr val="FCF9F0"/>
                </a:solidFill>
                <a:latin typeface="Aptos" panose="020B0004020202020204" pitchFamily="34" charset="0"/>
              </a:rPr>
              <a:t>Capacity Triage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D84A15-9570-DC9C-31AC-5A5588699AC4}"/>
              </a:ext>
            </a:extLst>
          </p:cNvPr>
          <p:cNvSpPr txBox="1"/>
          <p:nvPr/>
        </p:nvSpPr>
        <p:spPr>
          <a:xfrm>
            <a:off x="4533900" y="58166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720">
                <a:solidFill>
                  <a:srgbClr val="6F6F62"/>
                </a:solidFill>
                <a:latin typeface="Aptos" panose="020B0004020202020204" pitchFamily="34" charset="0"/>
              </a:rPr>
              <a:t>Dynamic routing cascades to the next NGO if the 50kg limit is hit.</a:t>
            </a:r>
            <a:endParaRPr lang="en-IN" sz="72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E164929-98B2-E8D9-7010-D66C610A30CF}"/>
              </a:ext>
            </a:extLst>
          </p:cNvPr>
          <p:cNvSpPr/>
          <p:nvPr/>
        </p:nvSpPr>
        <p:spPr>
          <a:xfrm>
            <a:off x="8305800" y="5435600"/>
            <a:ext cx="3403600" cy="685800"/>
          </a:xfrm>
          <a:prstGeom prst="rect">
            <a:avLst/>
          </a:prstGeom>
          <a:solidFill>
            <a:srgbClr val="0A2720"/>
          </a:solidFill>
          <a:ln w="9525">
            <a:solidFill>
              <a:srgbClr val="C65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673B64-1440-6E9B-EF4C-D64DE8D645EB}"/>
              </a:ext>
            </a:extLst>
          </p:cNvPr>
          <p:cNvSpPr txBox="1"/>
          <p:nvPr/>
        </p:nvSpPr>
        <p:spPr>
          <a:xfrm>
            <a:off x="8470900" y="55626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940" b="1">
                <a:solidFill>
                  <a:srgbClr val="FCF9F0"/>
                </a:solidFill>
                <a:latin typeface="Aptos" panose="020B0004020202020204" pitchFamily="34" charset="0"/>
              </a:rPr>
              <a:t>0-Lag Architecture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DCCC4B-735A-74B1-BB4A-D603F4F68E76}"/>
              </a:ext>
            </a:extLst>
          </p:cNvPr>
          <p:cNvSpPr txBox="1"/>
          <p:nvPr/>
        </p:nvSpPr>
        <p:spPr>
          <a:xfrm>
            <a:off x="8470900" y="58166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720">
                <a:solidFill>
                  <a:srgbClr val="6F6F62"/>
                </a:solidFill>
                <a:latin typeface="Aptos" panose="020B0004020202020204" pitchFamily="34" charset="0"/>
              </a:rPr>
              <a:t>Firebase real-time sync without page reloads.</a:t>
            </a:r>
            <a:endParaRPr lang="en-IN" sz="72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A0EB7A3-C3F4-6DD6-6373-FCF620C9007A}"/>
              </a:ext>
            </a:extLst>
          </p:cNvPr>
          <p:cNvCxnSpPr/>
          <p:nvPr/>
        </p:nvCxnSpPr>
        <p:spPr>
          <a:xfrm>
            <a:off x="431800" y="6426200"/>
            <a:ext cx="11328400" cy="0"/>
          </a:xfrm>
          <a:prstGeom prst="line">
            <a:avLst/>
          </a:prstGeom>
          <a:ln w="698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96F3E7B-1417-B336-81B7-9A48C340294E}"/>
              </a:ext>
            </a:extLst>
          </p:cNvPr>
          <p:cNvSpPr txBox="1"/>
          <p:nvPr/>
        </p:nvSpPr>
        <p:spPr>
          <a:xfrm>
            <a:off x="431800" y="6527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750" b="1">
                <a:solidFill>
                  <a:srgbClr val="6F6F62"/>
                </a:solidFill>
                <a:latin typeface="Consolas" panose="020B0609020204030204" pitchFamily="49" charset="0"/>
              </a:rPr>
              <a:t>SURPLUS-TO-SHELTER  /  TECH CYPHER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5C99DF-90D3-96D1-3485-6E7EDDF508BA}"/>
              </a:ext>
            </a:extLst>
          </p:cNvPr>
          <p:cNvSpPr txBox="1"/>
          <p:nvPr/>
        </p:nvSpPr>
        <p:spPr>
          <a:xfrm>
            <a:off x="4445000" y="65278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750">
                <a:solidFill>
                  <a:srgbClr val="6F6F62"/>
                </a:solidFill>
                <a:latin typeface="Consolas" panose="020B0609020204030204" pitchFamily="49" charset="0"/>
              </a:rPr>
              <a:t>SOLUTION  /  PIPELINE THAT BEATS DECAY</a:t>
            </a:r>
            <a:endParaRPr lang="en-IN" sz="750">
              <a:solidFill>
                <a:srgbClr val="6F6F62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540D2C-3053-CB8C-D8A2-0066614BC9FD}"/>
              </a:ext>
            </a:extLst>
          </p:cNvPr>
          <p:cNvSpPr txBox="1"/>
          <p:nvPr/>
        </p:nvSpPr>
        <p:spPr>
          <a:xfrm>
            <a:off x="10668000" y="65278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 b="1">
                <a:solidFill>
                  <a:srgbClr val="0F3F34"/>
                </a:solidFill>
                <a:latin typeface="Consolas" panose="020B0609020204030204" pitchFamily="49" charset="0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1486109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EAD13B-724D-F12A-073F-B96C5BA18C52}"/>
              </a:ext>
            </a:extLst>
          </p:cNvPr>
          <p:cNvSpPr txBox="1"/>
          <p:nvPr/>
        </p:nvSpPr>
        <p:spPr>
          <a:xfrm>
            <a:off x="431800" y="2413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850" b="1">
                <a:solidFill>
                  <a:srgbClr val="0F3F34"/>
                </a:solidFill>
                <a:latin typeface="Consolas" panose="020B0609020204030204" pitchFamily="49" charset="0"/>
              </a:rPr>
              <a:t>IMPACT  /  BUSINESS MODEL IN ONE SLIDE</a:t>
            </a:r>
            <a:endParaRPr lang="en-IN" sz="850" b="1">
              <a:solidFill>
                <a:srgbClr val="0F3F34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28E86-FE6C-12C8-2DE8-5708DAA72177}"/>
              </a:ext>
            </a:extLst>
          </p:cNvPr>
          <p:cNvSpPr txBox="1"/>
          <p:nvPr/>
        </p:nvSpPr>
        <p:spPr>
          <a:xfrm>
            <a:off x="6985000" y="241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850" b="1">
                <a:solidFill>
                  <a:srgbClr val="C65A37"/>
                </a:solidFill>
                <a:latin typeface="Consolas" panose="020B0609020204030204" pitchFamily="49" charset="0"/>
              </a:rPr>
              <a:t>ESG  /  SEC 80G  /  CSR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22E988-8C93-0C35-316E-126411B707C5}"/>
              </a:ext>
            </a:extLst>
          </p:cNvPr>
          <p:cNvCxnSpPr/>
          <p:nvPr/>
        </p:nvCxnSpPr>
        <p:spPr>
          <a:xfrm>
            <a:off x="431800" y="546100"/>
            <a:ext cx="11328400" cy="0"/>
          </a:xfrm>
          <a:prstGeom prst="line">
            <a:avLst/>
          </a:prstGeom>
          <a:ln w="952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8F4D2CA-7572-815F-0EA9-5E43A9FFD2DD}"/>
              </a:ext>
            </a:extLst>
          </p:cNvPr>
          <p:cNvSpPr txBox="1"/>
          <p:nvPr/>
        </p:nvSpPr>
        <p:spPr>
          <a:xfrm>
            <a:off x="431800" y="889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600" b="1">
                <a:solidFill>
                  <a:srgbClr val="1D2A24"/>
                </a:solidFill>
                <a:latin typeface="Georgia" panose="02040502050405020303" pitchFamily="18" charset="0"/>
              </a:rPr>
              <a:t>A live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5C79B-29B4-2FE8-A933-A730358797AC}"/>
              </a:ext>
            </a:extLst>
          </p:cNvPr>
          <p:cNvSpPr txBox="1"/>
          <p:nvPr/>
        </p:nvSpPr>
        <p:spPr>
          <a:xfrm>
            <a:off x="2336800" y="889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600" b="1" i="1">
                <a:solidFill>
                  <a:srgbClr val="0F3F34"/>
                </a:solidFill>
                <a:latin typeface="Georgia" panose="02040502050405020303" pitchFamily="18" charset="0"/>
              </a:rPr>
              <a:t>Sec 80G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3950A-A2EB-1A27-F792-E647A6FD5D10}"/>
              </a:ext>
            </a:extLst>
          </p:cNvPr>
          <p:cNvSpPr txBox="1"/>
          <p:nvPr/>
        </p:nvSpPr>
        <p:spPr>
          <a:xfrm>
            <a:off x="4241800" y="8890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600" b="1">
                <a:solidFill>
                  <a:srgbClr val="1D2A24"/>
                </a:solidFill>
                <a:latin typeface="Georgia" panose="02040502050405020303" pitchFamily="18" charset="0"/>
              </a:rPr>
              <a:t> certificate, printed 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A7290-9559-A896-5E82-4B3F46053DCC}"/>
              </a:ext>
            </a:extLst>
          </p:cNvPr>
          <p:cNvSpPr txBox="1"/>
          <p:nvPr/>
        </p:nvSpPr>
        <p:spPr>
          <a:xfrm>
            <a:off x="431800" y="14732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600" b="1" i="1">
                <a:solidFill>
                  <a:srgbClr val="C65A37"/>
                </a:solidFill>
                <a:latin typeface="Georgia" panose="02040502050405020303" pitchFamily="18" charset="0"/>
              </a:rPr>
              <a:t>every rescue.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C2F75-3F79-8AE2-4546-CFB503124218}"/>
              </a:ext>
            </a:extLst>
          </p:cNvPr>
          <p:cNvSpPr txBox="1"/>
          <p:nvPr/>
        </p:nvSpPr>
        <p:spPr>
          <a:xfrm>
            <a:off x="431800" y="21082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6F6F62"/>
                </a:solidFill>
                <a:latin typeface="Aptos" panose="020B0004020202020204" pitchFamily="34" charset="0"/>
              </a:rPr>
              <a:t>Every kilogram that flows through the system produces an auditable handoff — and three real numbers the finance team can write into the next CSR return.</a:t>
            </a:r>
            <a:endParaRPr lang="en-IN" sz="95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D31B4-C6A0-4A89-440B-747F997FEA4F}"/>
              </a:ext>
            </a:extLst>
          </p:cNvPr>
          <p:cNvSpPr/>
          <p:nvPr/>
        </p:nvSpPr>
        <p:spPr>
          <a:xfrm>
            <a:off x="431800" y="2667000"/>
            <a:ext cx="3530600" cy="2578100"/>
          </a:xfrm>
          <a:prstGeom prst="rect">
            <a:avLst/>
          </a:prstGeom>
          <a:solidFill>
            <a:srgbClr val="F4EEDE"/>
          </a:solidFill>
          <a:ln w="9525">
            <a:solidFill>
              <a:srgbClr val="C7BE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846AB-5C69-C9C2-28DA-039463CB3D3A}"/>
              </a:ext>
            </a:extLst>
          </p:cNvPr>
          <p:cNvSpPr txBox="1"/>
          <p:nvPr/>
        </p:nvSpPr>
        <p:spPr>
          <a:xfrm>
            <a:off x="622300" y="2908300"/>
            <a:ext cx="311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20" b="1">
                <a:solidFill>
                  <a:srgbClr val="C65A37"/>
                </a:solidFill>
                <a:latin typeface="Consolas" panose="020B0609020204030204" pitchFamily="49" charset="0"/>
              </a:rPr>
              <a:t>THE COMPUTATION  /  PER KILOGRAM RESCUED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6A0521-0923-A1F5-C0E9-0521ECB1247E}"/>
              </a:ext>
            </a:extLst>
          </p:cNvPr>
          <p:cNvSpPr txBox="1"/>
          <p:nvPr/>
        </p:nvSpPr>
        <p:spPr>
          <a:xfrm>
            <a:off x="622300" y="33147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0F3F34"/>
                </a:solidFill>
                <a:latin typeface="Consolas" panose="020B0609020204030204" pitchFamily="49" charset="0"/>
              </a:rPr>
              <a:t>Meals = Qty ×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31A3CF-A900-DCBC-EB6B-BFBF70E08A5B}"/>
              </a:ext>
            </a:extLst>
          </p:cNvPr>
          <p:cNvSpPr txBox="1"/>
          <p:nvPr/>
        </p:nvSpPr>
        <p:spPr>
          <a:xfrm>
            <a:off x="622300" y="39243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00" b="1">
                <a:solidFill>
                  <a:srgbClr val="0F3F34"/>
                </a:solidFill>
                <a:latin typeface="Consolas" panose="020B0609020204030204" pitchFamily="49" charset="0"/>
              </a:rPr>
              <a:t>CO₂e = Qty × 2.5 kg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80AB76-FA1B-3EE7-17DE-E5C3E8C1B9F8}"/>
              </a:ext>
            </a:extLst>
          </p:cNvPr>
          <p:cNvSpPr txBox="1"/>
          <p:nvPr/>
        </p:nvSpPr>
        <p:spPr>
          <a:xfrm>
            <a:off x="622300" y="4533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00" b="1">
                <a:solidFill>
                  <a:srgbClr val="0F3F34"/>
                </a:solidFill>
                <a:latin typeface="Consolas" panose="020B0609020204030204" pitchFamily="49" charset="0"/>
              </a:rPr>
              <a:t>Tax value = Qty × ₹20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D677DD-6C2B-24BE-BDC9-36AA539CEC26}"/>
              </a:ext>
            </a:extLst>
          </p:cNvPr>
          <p:cNvSpPr/>
          <p:nvPr/>
        </p:nvSpPr>
        <p:spPr>
          <a:xfrm>
            <a:off x="4152900" y="2667000"/>
            <a:ext cx="3530600" cy="2578100"/>
          </a:xfrm>
          <a:prstGeom prst="rect">
            <a:avLst/>
          </a:prstGeom>
          <a:solidFill>
            <a:srgbClr val="0A2720"/>
          </a:solidFill>
          <a:ln w="9525">
            <a:solidFill>
              <a:srgbClr val="0A27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9DA35-9C08-0BDF-16D8-0608033D7C92}"/>
              </a:ext>
            </a:extLst>
          </p:cNvPr>
          <p:cNvSpPr txBox="1"/>
          <p:nvPr/>
        </p:nvSpPr>
        <p:spPr>
          <a:xfrm>
            <a:off x="4343400" y="2908300"/>
            <a:ext cx="311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720" b="1">
                <a:solidFill>
                  <a:srgbClr val="C65A37"/>
                </a:solidFill>
                <a:latin typeface="Consolas" panose="020B0609020204030204" pitchFamily="49" charset="0"/>
              </a:rPr>
              <a:t>WORKED EXAMPLE  /  10 KG RESCUE</a:t>
            </a:r>
            <a:endParaRPr lang="en-IN" sz="720" b="1">
              <a:solidFill>
                <a:srgbClr val="C65A37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E834C7-EF17-B004-2CB2-740E54B9C80C}"/>
              </a:ext>
            </a:extLst>
          </p:cNvPr>
          <p:cNvSpPr txBox="1"/>
          <p:nvPr/>
        </p:nvSpPr>
        <p:spPr>
          <a:xfrm>
            <a:off x="4343400" y="32766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900" b="1">
                <a:solidFill>
                  <a:srgbClr val="FCF9F0"/>
                </a:solidFill>
                <a:latin typeface="Georgia" panose="02040502050405020303" pitchFamily="18" charset="0"/>
              </a:rPr>
              <a:t>30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8F9393-359D-7646-EDE2-ED9A43F06BE4}"/>
              </a:ext>
            </a:extLst>
          </p:cNvPr>
          <p:cNvSpPr txBox="1"/>
          <p:nvPr/>
        </p:nvSpPr>
        <p:spPr>
          <a:xfrm>
            <a:off x="5346700" y="34798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800" b="1">
                <a:solidFill>
                  <a:srgbClr val="6F6F62"/>
                </a:solidFill>
                <a:latin typeface="Consolas" panose="020B0609020204030204" pitchFamily="49" charset="0"/>
              </a:rPr>
              <a:t>meals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2D2927-5046-5284-FE8D-2262C7DAAD58}"/>
              </a:ext>
            </a:extLst>
          </p:cNvPr>
          <p:cNvSpPr txBox="1"/>
          <p:nvPr/>
        </p:nvSpPr>
        <p:spPr>
          <a:xfrm>
            <a:off x="4343400" y="39243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200" b="1">
                <a:solidFill>
                  <a:srgbClr val="FCF9F0"/>
                </a:solidFill>
                <a:latin typeface="Georgia" panose="02040502050405020303" pitchFamily="18" charset="0"/>
              </a:rPr>
              <a:t>25 kg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8E6B29-5C63-FD71-DB80-6198D90C3100}"/>
              </a:ext>
            </a:extLst>
          </p:cNvPr>
          <p:cNvSpPr txBox="1"/>
          <p:nvPr/>
        </p:nvSpPr>
        <p:spPr>
          <a:xfrm>
            <a:off x="5346700" y="4051300"/>
            <a:ext cx="171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800" b="1">
                <a:solidFill>
                  <a:srgbClr val="6F6F62"/>
                </a:solidFill>
                <a:latin typeface="Consolas" panose="020B0609020204030204" pitchFamily="49" charset="0"/>
              </a:rPr>
              <a:t>CO₂e diverted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037C42-7436-D997-7407-648379625750}"/>
              </a:ext>
            </a:extLst>
          </p:cNvPr>
          <p:cNvSpPr txBox="1"/>
          <p:nvPr/>
        </p:nvSpPr>
        <p:spPr>
          <a:xfrm>
            <a:off x="4343400" y="45720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300" b="1">
                <a:solidFill>
                  <a:srgbClr val="EAA42F"/>
                </a:solidFill>
                <a:latin typeface="Georgia" panose="02040502050405020303" pitchFamily="18" charset="0"/>
              </a:rPr>
              <a:t>₹200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9EAA32-D647-66B9-80B4-6C9B2196BED9}"/>
              </a:ext>
            </a:extLst>
          </p:cNvPr>
          <p:cNvSpPr txBox="1"/>
          <p:nvPr/>
        </p:nvSpPr>
        <p:spPr>
          <a:xfrm>
            <a:off x="5346700" y="46863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800" b="1">
                <a:solidFill>
                  <a:srgbClr val="6F6F62"/>
                </a:solidFill>
                <a:latin typeface="Consolas" panose="020B0609020204030204" pitchFamily="49" charset="0"/>
              </a:rPr>
              <a:t>impact value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165FB2-6B85-F6A1-E21D-4A6B22606E47}"/>
              </a:ext>
            </a:extLst>
          </p:cNvPr>
          <p:cNvSpPr/>
          <p:nvPr/>
        </p:nvSpPr>
        <p:spPr>
          <a:xfrm>
            <a:off x="7874000" y="2667000"/>
            <a:ext cx="3886200" cy="2578100"/>
          </a:xfrm>
          <a:prstGeom prst="rect">
            <a:avLst/>
          </a:prstGeom>
          <a:solidFill>
            <a:srgbClr val="F4EEDE"/>
          </a:solidFill>
          <a:ln w="9525">
            <a:solidFill>
              <a:srgbClr val="C7BE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6709EA-ACB1-58D5-3521-D6E22EAE0D74}"/>
              </a:ext>
            </a:extLst>
          </p:cNvPr>
          <p:cNvSpPr txBox="1"/>
          <p:nvPr/>
        </p:nvSpPr>
        <p:spPr>
          <a:xfrm>
            <a:off x="8064500" y="29083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20" b="1">
                <a:solidFill>
                  <a:srgbClr val="C65A37"/>
                </a:solidFill>
                <a:latin typeface="Consolas" panose="020B0609020204030204" pitchFamily="49" charset="0"/>
              </a:rPr>
              <a:t>IMMUTABLE AUDIT TRAIL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3EBCFE-01FA-7CCF-085A-189CD5B7D50C}"/>
              </a:ext>
            </a:extLst>
          </p:cNvPr>
          <p:cNvSpPr txBox="1"/>
          <p:nvPr/>
        </p:nvSpPr>
        <p:spPr>
          <a:xfrm>
            <a:off x="8064500" y="3352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000" b="1">
                <a:solidFill>
                  <a:srgbClr val="0F3F34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9A01ED-85F4-44DC-326B-77E607E37166}"/>
              </a:ext>
            </a:extLst>
          </p:cNvPr>
          <p:cNvSpPr txBox="1"/>
          <p:nvPr/>
        </p:nvSpPr>
        <p:spPr>
          <a:xfrm>
            <a:off x="8064500" y="37084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800" b="1">
                <a:solidFill>
                  <a:srgbClr val="1D2A24"/>
                </a:solidFill>
                <a:latin typeface="Aptos" panose="020B0004020202020204" pitchFamily="34" charset="0"/>
              </a:rPr>
              <a:t>Posted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D98AFCC-693A-CF85-B2D5-C50A0B5615D9}"/>
              </a:ext>
            </a:extLst>
          </p:cNvPr>
          <p:cNvCxnSpPr/>
          <p:nvPr/>
        </p:nvCxnSpPr>
        <p:spPr>
          <a:xfrm>
            <a:off x="8648700" y="3530600"/>
            <a:ext cx="622300" cy="0"/>
          </a:xfrm>
          <a:prstGeom prst="line">
            <a:avLst/>
          </a:prstGeom>
          <a:ln w="13970">
            <a:solidFill>
              <a:srgbClr val="C65A3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2D051BB-AC1A-BAF5-4D52-1BEFD8DCE770}"/>
              </a:ext>
            </a:extLst>
          </p:cNvPr>
          <p:cNvSpPr txBox="1"/>
          <p:nvPr/>
        </p:nvSpPr>
        <p:spPr>
          <a:xfrm>
            <a:off x="9372600" y="3352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000" b="1">
                <a:solidFill>
                  <a:srgbClr val="0F3F34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AB76C6-230C-392A-F20F-BD581C8050FA}"/>
              </a:ext>
            </a:extLst>
          </p:cNvPr>
          <p:cNvSpPr txBox="1"/>
          <p:nvPr/>
        </p:nvSpPr>
        <p:spPr>
          <a:xfrm>
            <a:off x="9372600" y="37084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800" b="1">
                <a:solidFill>
                  <a:srgbClr val="1D2A24"/>
                </a:solidFill>
                <a:latin typeface="Aptos" panose="020B0004020202020204" pitchFamily="34" charset="0"/>
              </a:rPr>
              <a:t>Matched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1AF07C-27D3-E9A1-4145-B3D408CCE6C7}"/>
              </a:ext>
            </a:extLst>
          </p:cNvPr>
          <p:cNvCxnSpPr/>
          <p:nvPr/>
        </p:nvCxnSpPr>
        <p:spPr>
          <a:xfrm>
            <a:off x="10007600" y="3530600"/>
            <a:ext cx="622300" cy="0"/>
          </a:xfrm>
          <a:prstGeom prst="line">
            <a:avLst/>
          </a:prstGeom>
          <a:ln w="13970">
            <a:solidFill>
              <a:srgbClr val="C65A3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0468EE4-E947-41B6-1489-476F8AF0862E}"/>
              </a:ext>
            </a:extLst>
          </p:cNvPr>
          <p:cNvSpPr txBox="1"/>
          <p:nvPr/>
        </p:nvSpPr>
        <p:spPr>
          <a:xfrm>
            <a:off x="10731500" y="3352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000" b="1">
                <a:solidFill>
                  <a:srgbClr val="0F3F34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56B050-377F-CF8B-2480-340822DCEDA8}"/>
              </a:ext>
            </a:extLst>
          </p:cNvPr>
          <p:cNvSpPr txBox="1"/>
          <p:nvPr/>
        </p:nvSpPr>
        <p:spPr>
          <a:xfrm>
            <a:off x="10731500" y="37084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800" b="1">
                <a:solidFill>
                  <a:srgbClr val="1D2A24"/>
                </a:solidFill>
                <a:latin typeface="Aptos" panose="020B0004020202020204" pitchFamily="34" charset="0"/>
              </a:rPr>
              <a:t>Dispatched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A618CE5-B449-C6E3-6DED-A30F42D3BA2D}"/>
              </a:ext>
            </a:extLst>
          </p:cNvPr>
          <p:cNvCxnSpPr/>
          <p:nvPr/>
        </p:nvCxnSpPr>
        <p:spPr>
          <a:xfrm>
            <a:off x="8064500" y="4216400"/>
            <a:ext cx="3479800" cy="0"/>
          </a:xfrm>
          <a:prstGeom prst="line">
            <a:avLst/>
          </a:prstGeom>
          <a:ln w="698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B92AAA5-985D-EEE4-89FB-636AB8422934}"/>
              </a:ext>
            </a:extLst>
          </p:cNvPr>
          <p:cNvSpPr txBox="1"/>
          <p:nvPr/>
        </p:nvSpPr>
        <p:spPr>
          <a:xfrm>
            <a:off x="8064500" y="44069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20">
                <a:solidFill>
                  <a:srgbClr val="6F6F62"/>
                </a:solidFill>
                <a:latin typeface="Aptos" panose="020B0004020202020204" pitchFamily="34" charset="0"/>
              </a:rPr>
              <a:t>Each handoff is time-stamped and linked. The 80G certificate is generated from the same audit trail.</a:t>
            </a:r>
            <a:endParaRPr lang="en-IN" sz="82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5337A6-2928-3D14-9F91-C8D6DB16DDEF}"/>
              </a:ext>
            </a:extLst>
          </p:cNvPr>
          <p:cNvSpPr/>
          <p:nvPr/>
        </p:nvSpPr>
        <p:spPr>
          <a:xfrm>
            <a:off x="431800" y="5524500"/>
            <a:ext cx="11328400" cy="495300"/>
          </a:xfrm>
          <a:prstGeom prst="rect">
            <a:avLst/>
          </a:prstGeom>
          <a:solidFill>
            <a:srgbClr val="C65A37"/>
          </a:solidFill>
          <a:ln w="9525">
            <a:solidFill>
              <a:srgbClr val="C65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A76E00-C485-90B0-DFA3-10569BCA722E}"/>
              </a:ext>
            </a:extLst>
          </p:cNvPr>
          <p:cNvSpPr txBox="1"/>
          <p:nvPr/>
        </p:nvSpPr>
        <p:spPr>
          <a:xfrm>
            <a:off x="622300" y="56515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820" b="1">
                <a:solidFill>
                  <a:srgbClr val="FFFCF4"/>
                </a:solidFill>
                <a:latin typeface="Aptos" panose="020B0004020202020204" pitchFamily="34" charset="0"/>
              </a:rPr>
              <a:t>80G NOTE  /  ₹20 per kg is a configurable impact-value proxy. Actual deduction depends on the qualifying donation and recipient status.</a:t>
            </a:r>
            <a:endParaRPr lang="en-IN" sz="820" b="1">
              <a:solidFill>
                <a:srgbClr val="FFFCF4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83F7CB-1320-7A80-2C26-4498208B0FAA}"/>
              </a:ext>
            </a:extLst>
          </p:cNvPr>
          <p:cNvSpPr txBox="1"/>
          <p:nvPr/>
        </p:nvSpPr>
        <p:spPr>
          <a:xfrm>
            <a:off x="431800" y="6172200"/>
            <a:ext cx="1132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680">
                <a:solidFill>
                  <a:srgbClr val="6F6F62"/>
                </a:solidFill>
                <a:latin typeface="Consolas" panose="020B0609020204030204" pitchFamily="49" charset="0"/>
              </a:rPr>
              <a:t>Tax reference / Income Tax Department, Section 80G deduction guidance. Product note / the ₹20/kg value is a declared impact proxy, not a statutory tax rate.</a:t>
            </a:r>
            <a:endParaRPr lang="en-IN" sz="680">
              <a:solidFill>
                <a:srgbClr val="6F6F62"/>
              </a:solidFill>
              <a:latin typeface="Consolas" panose="020B0609020204030204" pitchFamily="49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DE216ED-1108-F839-3313-B7DE07D223E6}"/>
              </a:ext>
            </a:extLst>
          </p:cNvPr>
          <p:cNvCxnSpPr/>
          <p:nvPr/>
        </p:nvCxnSpPr>
        <p:spPr>
          <a:xfrm>
            <a:off x="431800" y="6426200"/>
            <a:ext cx="11328400" cy="0"/>
          </a:xfrm>
          <a:prstGeom prst="line">
            <a:avLst/>
          </a:prstGeom>
          <a:ln w="698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A7DBB4F-322B-8E88-B7E2-F0B28092BC2E}"/>
              </a:ext>
            </a:extLst>
          </p:cNvPr>
          <p:cNvSpPr txBox="1"/>
          <p:nvPr/>
        </p:nvSpPr>
        <p:spPr>
          <a:xfrm>
            <a:off x="431800" y="6527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750" b="1">
                <a:solidFill>
                  <a:srgbClr val="6F6F62"/>
                </a:solidFill>
                <a:latin typeface="Consolas" panose="020B0609020204030204" pitchFamily="49" charset="0"/>
              </a:rPr>
              <a:t>SURPLUS-TO-SHELTER  /  TECH CYPHER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500893-BA50-E8C3-1598-1BAF0A0A5CF3}"/>
              </a:ext>
            </a:extLst>
          </p:cNvPr>
          <p:cNvSpPr txBox="1"/>
          <p:nvPr/>
        </p:nvSpPr>
        <p:spPr>
          <a:xfrm>
            <a:off x="4445000" y="65278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750">
                <a:solidFill>
                  <a:srgbClr val="6F6F62"/>
                </a:solidFill>
                <a:latin typeface="Consolas" panose="020B0609020204030204" pitchFamily="49" charset="0"/>
              </a:rPr>
              <a:t>IMPACT  /  EVERY RESCUE BECOMES A RECEIPT</a:t>
            </a:r>
            <a:endParaRPr lang="en-IN" sz="750">
              <a:solidFill>
                <a:srgbClr val="6F6F62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D8E96D-D764-E1F6-E3B0-6356DED75D2E}"/>
              </a:ext>
            </a:extLst>
          </p:cNvPr>
          <p:cNvSpPr txBox="1"/>
          <p:nvPr/>
        </p:nvSpPr>
        <p:spPr>
          <a:xfrm>
            <a:off x="10668000" y="65278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 b="1">
                <a:solidFill>
                  <a:srgbClr val="0F3F34"/>
                </a:solidFill>
                <a:latin typeface="Consolas" panose="020B0609020204030204" pitchFamily="49" charset="0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3759591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47CAAD-D851-5B31-6196-C6AC3546EA3F}"/>
              </a:ext>
            </a:extLst>
          </p:cNvPr>
          <p:cNvSpPr txBox="1"/>
          <p:nvPr/>
        </p:nvSpPr>
        <p:spPr>
          <a:xfrm>
            <a:off x="431800" y="2413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850" b="1">
                <a:solidFill>
                  <a:srgbClr val="0F3F34"/>
                </a:solidFill>
                <a:latin typeface="Consolas" panose="020B0609020204030204" pitchFamily="49" charset="0"/>
              </a:rPr>
              <a:t>SCALE  /  TWO LOOPS, ONE FLYWHEEL</a:t>
            </a:r>
            <a:endParaRPr lang="en-IN" sz="850" b="1">
              <a:solidFill>
                <a:srgbClr val="0F3F34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AA019-AA76-FFA0-E8FB-5923550E3659}"/>
              </a:ext>
            </a:extLst>
          </p:cNvPr>
          <p:cNvSpPr txBox="1"/>
          <p:nvPr/>
        </p:nvSpPr>
        <p:spPr>
          <a:xfrm>
            <a:off x="6985000" y="241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850" b="1">
                <a:solidFill>
                  <a:srgbClr val="C65A37"/>
                </a:solidFill>
                <a:latin typeface="Consolas" panose="020B0609020204030204" pitchFamily="49" charset="0"/>
              </a:rPr>
              <a:t>PILOT SCORECARD  /  NEXT 30 DAYS</a:t>
            </a:r>
            <a:endParaRPr lang="en-IN" sz="850" b="1">
              <a:solidFill>
                <a:srgbClr val="C65A37"/>
              </a:solidFill>
              <a:latin typeface="Consolas" panose="020B0609020204030204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E9FD10-70B8-F203-082D-A4963D86F21C}"/>
              </a:ext>
            </a:extLst>
          </p:cNvPr>
          <p:cNvCxnSpPr/>
          <p:nvPr/>
        </p:nvCxnSpPr>
        <p:spPr>
          <a:xfrm>
            <a:off x="431800" y="546100"/>
            <a:ext cx="11328400" cy="0"/>
          </a:xfrm>
          <a:prstGeom prst="line">
            <a:avLst/>
          </a:prstGeom>
          <a:ln w="952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AEAA528-6B59-AEB8-A345-38C610FACBEE}"/>
              </a:ext>
            </a:extLst>
          </p:cNvPr>
          <p:cNvSpPr txBox="1"/>
          <p:nvPr/>
        </p:nvSpPr>
        <p:spPr>
          <a:xfrm>
            <a:off x="431800" y="889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D2A24"/>
                </a:solidFill>
                <a:latin typeface="Georgia" panose="02040502050405020303" pitchFamily="18" charset="0"/>
              </a:rPr>
              <a:t>From a Jaipur pilot to a </a:t>
            </a:r>
            <a:endParaRPr lang="en-IN" sz="2600" b="1">
              <a:solidFill>
                <a:srgbClr val="1D2A24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2C069-4234-6086-E204-F2AD3C90DCF1}"/>
              </a:ext>
            </a:extLst>
          </p:cNvPr>
          <p:cNvSpPr txBox="1"/>
          <p:nvPr/>
        </p:nvSpPr>
        <p:spPr>
          <a:xfrm>
            <a:off x="6477000" y="889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600" b="1" i="1">
                <a:solidFill>
                  <a:srgbClr val="C65A37"/>
                </a:solidFill>
                <a:latin typeface="Georgia" panose="02040502050405020303" pitchFamily="18" charset="0"/>
              </a:rPr>
              <a:t>repeatable rescue network.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52E94-0703-1818-C402-F6CF18CCE29A}"/>
              </a:ext>
            </a:extLst>
          </p:cNvPr>
          <p:cNvSpPr txBox="1"/>
          <p:nvPr/>
        </p:nvSpPr>
        <p:spPr>
          <a:xfrm>
            <a:off x="431800" y="16383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6F6F62"/>
                </a:solidFill>
                <a:latin typeface="Aptos" panose="020B0004020202020204" pitchFamily="34" charset="0"/>
              </a:rPr>
              <a:t>The product earns its place when both sides of the handoff get something measurable.</a:t>
            </a:r>
            <a:endParaRPr lang="en-IN" sz="100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60EB34-E313-D36E-079A-1D15F8A5B126}"/>
              </a:ext>
            </a:extLst>
          </p:cNvPr>
          <p:cNvSpPr/>
          <p:nvPr/>
        </p:nvSpPr>
        <p:spPr>
          <a:xfrm>
            <a:off x="431800" y="2324100"/>
            <a:ext cx="3073400" cy="2260600"/>
          </a:xfrm>
          <a:prstGeom prst="rect">
            <a:avLst/>
          </a:prstGeom>
          <a:solidFill>
            <a:srgbClr val="0F3F34"/>
          </a:solidFill>
          <a:ln w="9525">
            <a:solidFill>
              <a:srgbClr val="0F3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185D3-7679-87C5-EC07-1210CD66AC66}"/>
              </a:ext>
            </a:extLst>
          </p:cNvPr>
          <p:cNvSpPr txBox="1"/>
          <p:nvPr/>
        </p:nvSpPr>
        <p:spPr>
          <a:xfrm>
            <a:off x="647700" y="25654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20" b="1">
                <a:solidFill>
                  <a:srgbClr val="C65A37"/>
                </a:solidFill>
                <a:latin typeface="Consolas" panose="020B0609020204030204" pitchFamily="49" charset="0"/>
              </a:rPr>
              <a:t>RESTAURANTS / KITCHENS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0F7F0D-3A41-C9C5-AA77-9450ED73E850}"/>
              </a:ext>
            </a:extLst>
          </p:cNvPr>
          <p:cNvSpPr txBox="1"/>
          <p:nvPr/>
        </p:nvSpPr>
        <p:spPr>
          <a:xfrm>
            <a:off x="647700" y="29337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FFCF4"/>
                </a:solidFill>
                <a:latin typeface="Georgia" panose="02040502050405020303" pitchFamily="18" charset="0"/>
              </a:rPr>
              <a:t>Donating becomes a 20-five tap process, not a twenty-five call.</a:t>
            </a:r>
            <a:endParaRPr lang="en-IN" sz="1300" b="1">
              <a:solidFill>
                <a:srgbClr val="FFFCF4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646AC9-BDE1-31B1-6B85-F138BAC086B6}"/>
              </a:ext>
            </a:extLst>
          </p:cNvPr>
          <p:cNvSpPr txBox="1"/>
          <p:nvPr/>
        </p:nvSpPr>
        <p:spPr>
          <a:xfrm>
            <a:off x="647700" y="38735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40">
                <a:solidFill>
                  <a:srgbClr val="6F6F62"/>
                </a:solidFill>
                <a:latin typeface="Aptos" panose="020B0004020202020204" pitchFamily="34" charset="0"/>
              </a:rPr>
              <a:t>Auto-issued ESG receipts give finance teams a clean CSR attachment and a reason to repeat the behavior.</a:t>
            </a:r>
            <a:endParaRPr lang="en-IN" sz="84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0FB301-9220-29DB-B7D5-CC5CBA0AE779}"/>
              </a:ext>
            </a:extLst>
          </p:cNvPr>
          <p:cNvSpPr/>
          <p:nvPr/>
        </p:nvSpPr>
        <p:spPr>
          <a:xfrm>
            <a:off x="3784600" y="2324100"/>
            <a:ext cx="3073400" cy="2260600"/>
          </a:xfrm>
          <a:prstGeom prst="rect">
            <a:avLst/>
          </a:prstGeom>
          <a:solidFill>
            <a:srgbClr val="FCF9F0"/>
          </a:solidFill>
          <a:ln w="9525">
            <a:solidFill>
              <a:srgbClr val="C7BE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40E9F-B4B6-00D5-486D-6C85D4DB6DB0}"/>
              </a:ext>
            </a:extLst>
          </p:cNvPr>
          <p:cNvSpPr txBox="1"/>
          <p:nvPr/>
        </p:nvSpPr>
        <p:spPr>
          <a:xfrm>
            <a:off x="4000500" y="25654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20" b="1">
                <a:solidFill>
                  <a:srgbClr val="C65A37"/>
                </a:solidFill>
                <a:latin typeface="Consolas" panose="020B0609020204030204" pitchFamily="49" charset="0"/>
              </a:rPr>
              <a:t>SHELTERS / NGOS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A5DDC6-C6C8-A306-30BC-3EBB81787B29}"/>
              </a:ext>
            </a:extLst>
          </p:cNvPr>
          <p:cNvSpPr txBox="1"/>
          <p:nvPr/>
        </p:nvSpPr>
        <p:spPr>
          <a:xfrm>
            <a:off x="4000500" y="29337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0F3F34"/>
                </a:solidFill>
                <a:latin typeface="Georgia" panose="02040502050405020303" pitchFamily="18" charset="0"/>
              </a:rPr>
              <a:t>Predictable inflow beats dropped bags at odd hours.</a:t>
            </a:r>
            <a:endParaRPr lang="en-IN" sz="1300" b="1">
              <a:solidFill>
                <a:srgbClr val="0F3F34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26488D-3C31-6927-3471-C43CFA8321B0}"/>
              </a:ext>
            </a:extLst>
          </p:cNvPr>
          <p:cNvSpPr txBox="1"/>
          <p:nvPr/>
        </p:nvSpPr>
        <p:spPr>
          <a:xfrm>
            <a:off x="4000500" y="38735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40">
                <a:solidFill>
                  <a:srgbClr val="6F6F62"/>
                </a:solidFill>
                <a:latin typeface="Aptos" panose="020B0004020202020204" pitchFamily="34" charset="0"/>
              </a:rPr>
              <a:t>Menu planning becomes predictable; every delivery is time-stamped and linked to a safe handoff.</a:t>
            </a:r>
            <a:endParaRPr lang="en-IN" sz="840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5F97D0-99A3-DCC1-B979-4B66416056D3}"/>
              </a:ext>
            </a:extLst>
          </p:cNvPr>
          <p:cNvSpPr/>
          <p:nvPr/>
        </p:nvSpPr>
        <p:spPr>
          <a:xfrm>
            <a:off x="7213600" y="2324100"/>
            <a:ext cx="4546600" cy="2260600"/>
          </a:xfrm>
          <a:prstGeom prst="rect">
            <a:avLst/>
          </a:prstGeom>
          <a:solidFill>
            <a:srgbClr val="0A2720"/>
          </a:solidFill>
          <a:ln w="9525">
            <a:solidFill>
              <a:srgbClr val="0A27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DB3ED1-0D2F-706B-7EAE-30767435CB4C}"/>
              </a:ext>
            </a:extLst>
          </p:cNvPr>
          <p:cNvSpPr txBox="1"/>
          <p:nvPr/>
        </p:nvSpPr>
        <p:spPr>
          <a:xfrm>
            <a:off x="7429500" y="25654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20" b="1">
                <a:solidFill>
                  <a:srgbClr val="C65A37"/>
                </a:solidFill>
                <a:latin typeface="Consolas" panose="020B0609020204030204" pitchFamily="49" charset="0"/>
              </a:rPr>
              <a:t>THE FLYWHEEL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9360F31-40FA-6413-9E1A-20E711A958E2}"/>
              </a:ext>
            </a:extLst>
          </p:cNvPr>
          <p:cNvSpPr/>
          <p:nvPr/>
        </p:nvSpPr>
        <p:spPr>
          <a:xfrm>
            <a:off x="7810500" y="3365500"/>
            <a:ext cx="596900" cy="596900"/>
          </a:xfrm>
          <a:prstGeom prst="ellipse">
            <a:avLst/>
          </a:prstGeom>
          <a:solidFill>
            <a:srgbClr val="C65A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C2C059-8E7E-19A9-0EEA-6D2A794C65E8}"/>
              </a:ext>
            </a:extLst>
          </p:cNvPr>
          <p:cNvSpPr txBox="1"/>
          <p:nvPr/>
        </p:nvSpPr>
        <p:spPr>
          <a:xfrm>
            <a:off x="7810500" y="3581400"/>
            <a:ext cx="596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680" b="1">
                <a:solidFill>
                  <a:srgbClr val="FFFCF4"/>
                </a:solidFill>
                <a:latin typeface="Consolas" panose="020B0609020204030204" pitchFamily="49" charset="0"/>
              </a:rPr>
              <a:t>SURPLUS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8A6C5C5-C0D8-BD02-88C3-4D061B12A759}"/>
              </a:ext>
            </a:extLst>
          </p:cNvPr>
          <p:cNvSpPr/>
          <p:nvPr/>
        </p:nvSpPr>
        <p:spPr>
          <a:xfrm>
            <a:off x="9423400" y="3086100"/>
            <a:ext cx="596900" cy="596900"/>
          </a:xfrm>
          <a:prstGeom prst="ellipse">
            <a:avLst/>
          </a:prstGeom>
          <a:solidFill>
            <a:srgbClr val="FCF9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48B3DF-D65C-67D1-3F13-8EE11D162E9F}"/>
              </a:ext>
            </a:extLst>
          </p:cNvPr>
          <p:cNvSpPr txBox="1"/>
          <p:nvPr/>
        </p:nvSpPr>
        <p:spPr>
          <a:xfrm>
            <a:off x="9423400" y="3302000"/>
            <a:ext cx="596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680" b="1">
                <a:solidFill>
                  <a:srgbClr val="0F3F34"/>
                </a:solidFill>
                <a:latin typeface="Consolas" panose="020B0609020204030204" pitchFamily="49" charset="0"/>
              </a:rPr>
              <a:t>LIVE DATA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2EE01A0-4C74-3A31-62BA-30A8A99EA7AF}"/>
              </a:ext>
            </a:extLst>
          </p:cNvPr>
          <p:cNvSpPr/>
          <p:nvPr/>
        </p:nvSpPr>
        <p:spPr>
          <a:xfrm>
            <a:off x="10693400" y="3708400"/>
            <a:ext cx="596900" cy="596900"/>
          </a:xfrm>
          <a:prstGeom prst="ellipse">
            <a:avLst/>
          </a:prstGeom>
          <a:solidFill>
            <a:srgbClr val="EAA4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319A72-A346-00C2-958D-A7DB9F926472}"/>
              </a:ext>
            </a:extLst>
          </p:cNvPr>
          <p:cNvSpPr txBox="1"/>
          <p:nvPr/>
        </p:nvSpPr>
        <p:spPr>
          <a:xfrm>
            <a:off x="10693400" y="3924300"/>
            <a:ext cx="596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680" b="1">
                <a:solidFill>
                  <a:srgbClr val="0F3F34"/>
                </a:solidFill>
                <a:latin typeface="Consolas" panose="020B0609020204030204" pitchFamily="49" charset="0"/>
              </a:rPr>
              <a:t>MATCH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055EFB-239B-0677-309C-8016D011C8CA}"/>
              </a:ext>
            </a:extLst>
          </p:cNvPr>
          <p:cNvSpPr/>
          <p:nvPr/>
        </p:nvSpPr>
        <p:spPr>
          <a:xfrm>
            <a:off x="9423400" y="4330700"/>
            <a:ext cx="596900" cy="596900"/>
          </a:xfrm>
          <a:prstGeom prst="ellipse">
            <a:avLst/>
          </a:prstGeom>
          <a:solidFill>
            <a:srgbClr val="FCF9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5F9668-CC8D-80BF-D6A9-459DABF70B8E}"/>
              </a:ext>
            </a:extLst>
          </p:cNvPr>
          <p:cNvSpPr txBox="1"/>
          <p:nvPr/>
        </p:nvSpPr>
        <p:spPr>
          <a:xfrm>
            <a:off x="9423400" y="4546600"/>
            <a:ext cx="596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680" b="1">
                <a:solidFill>
                  <a:srgbClr val="0F3F34"/>
                </a:solidFill>
                <a:latin typeface="Consolas" panose="020B0609020204030204" pitchFamily="49" charset="0"/>
              </a:rPr>
              <a:t>MEAL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6DBB659-1FE6-7644-D133-659ECF3EE928}"/>
              </a:ext>
            </a:extLst>
          </p:cNvPr>
          <p:cNvSpPr/>
          <p:nvPr/>
        </p:nvSpPr>
        <p:spPr>
          <a:xfrm>
            <a:off x="7810500" y="4013200"/>
            <a:ext cx="596900" cy="596900"/>
          </a:xfrm>
          <a:prstGeom prst="ellipse">
            <a:avLst/>
          </a:prstGeom>
          <a:solidFill>
            <a:srgbClr val="FCF9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362750-3BC6-DBD0-F3E5-EB296F2D027E}"/>
              </a:ext>
            </a:extLst>
          </p:cNvPr>
          <p:cNvSpPr txBox="1"/>
          <p:nvPr/>
        </p:nvSpPr>
        <p:spPr>
          <a:xfrm>
            <a:off x="7810500" y="4229100"/>
            <a:ext cx="596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680" b="1">
                <a:solidFill>
                  <a:srgbClr val="0F3F34"/>
                </a:solidFill>
                <a:latin typeface="Consolas" panose="020B0609020204030204" pitchFamily="49" charset="0"/>
              </a:rPr>
              <a:t>AUDIT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87B53EA-36CA-5561-5901-9630728B149C}"/>
              </a:ext>
            </a:extLst>
          </p:cNvPr>
          <p:cNvCxnSpPr/>
          <p:nvPr/>
        </p:nvCxnSpPr>
        <p:spPr>
          <a:xfrm flipV="1">
            <a:off x="8407400" y="3365500"/>
            <a:ext cx="457200" cy="152400"/>
          </a:xfrm>
          <a:prstGeom prst="line">
            <a:avLst/>
          </a:prstGeom>
          <a:ln w="15240">
            <a:solidFill>
              <a:srgbClr val="C65A3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35E600-BE32-57B4-8CF6-6FDFDE92C67D}"/>
              </a:ext>
            </a:extLst>
          </p:cNvPr>
          <p:cNvCxnSpPr/>
          <p:nvPr/>
        </p:nvCxnSpPr>
        <p:spPr>
          <a:xfrm>
            <a:off x="9994900" y="3238500"/>
            <a:ext cx="393700" cy="368300"/>
          </a:xfrm>
          <a:prstGeom prst="line">
            <a:avLst/>
          </a:prstGeom>
          <a:ln w="15240">
            <a:solidFill>
              <a:srgbClr val="C65A3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9857888-5DB0-7B16-85AE-C7097A7EF2A1}"/>
              </a:ext>
            </a:extLst>
          </p:cNvPr>
          <p:cNvCxnSpPr/>
          <p:nvPr/>
        </p:nvCxnSpPr>
        <p:spPr>
          <a:xfrm flipH="1">
            <a:off x="9931400" y="4254500"/>
            <a:ext cx="673100" cy="127000"/>
          </a:xfrm>
          <a:prstGeom prst="line">
            <a:avLst/>
          </a:prstGeom>
          <a:ln w="15240">
            <a:solidFill>
              <a:srgbClr val="C65A3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BB873B-632D-C09E-FC51-FB865022C70C}"/>
              </a:ext>
            </a:extLst>
          </p:cNvPr>
          <p:cNvCxnSpPr/>
          <p:nvPr/>
        </p:nvCxnSpPr>
        <p:spPr>
          <a:xfrm flipH="1" flipV="1">
            <a:off x="8445500" y="3937000"/>
            <a:ext cx="546100" cy="266700"/>
          </a:xfrm>
          <a:prstGeom prst="line">
            <a:avLst/>
          </a:prstGeom>
          <a:ln w="15240">
            <a:solidFill>
              <a:srgbClr val="C65A3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D4E745-CD90-C4D8-9FE1-6164B074D23A}"/>
              </a:ext>
            </a:extLst>
          </p:cNvPr>
          <p:cNvCxnSpPr/>
          <p:nvPr/>
        </p:nvCxnSpPr>
        <p:spPr>
          <a:xfrm>
            <a:off x="8013700" y="3581400"/>
            <a:ext cx="101600" cy="381000"/>
          </a:xfrm>
          <a:prstGeom prst="line">
            <a:avLst/>
          </a:prstGeom>
          <a:ln w="15240">
            <a:solidFill>
              <a:srgbClr val="C65A3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3BEAB09-11C9-7EB8-2E15-E61A87401F84}"/>
              </a:ext>
            </a:extLst>
          </p:cNvPr>
          <p:cNvSpPr/>
          <p:nvPr/>
        </p:nvSpPr>
        <p:spPr>
          <a:xfrm>
            <a:off x="431800" y="4965700"/>
            <a:ext cx="11328400" cy="965200"/>
          </a:xfrm>
          <a:prstGeom prst="rect">
            <a:avLst/>
          </a:prstGeom>
          <a:solidFill>
            <a:srgbClr val="FCF9F0"/>
          </a:solidFill>
          <a:ln w="9525">
            <a:solidFill>
              <a:srgbClr val="C7BE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8763F9-33D3-5595-EAE1-6A408F3C71A6}"/>
              </a:ext>
            </a:extLst>
          </p:cNvPr>
          <p:cNvSpPr txBox="1"/>
          <p:nvPr/>
        </p:nvSpPr>
        <p:spPr>
          <a:xfrm>
            <a:off x="647700" y="5181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20" b="1">
                <a:solidFill>
                  <a:srgbClr val="C65A37"/>
                </a:solidFill>
                <a:latin typeface="Consolas" panose="020B0609020204030204" pitchFamily="49" charset="0"/>
              </a:rPr>
              <a:t>30-DAY PILOT TARGETS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486B76-2EAE-A230-18FF-950EE3BFA575}"/>
              </a:ext>
            </a:extLst>
          </p:cNvPr>
          <p:cNvSpPr txBox="1"/>
          <p:nvPr/>
        </p:nvSpPr>
        <p:spPr>
          <a:xfrm>
            <a:off x="2921000" y="52451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0F3F34"/>
                </a:solidFill>
                <a:latin typeface="Consolas" panose="020B0609020204030204" pitchFamily="49" charset="0"/>
              </a:rPr>
              <a:t>≤ 3 MIN  /  intake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F76836-D2A2-CCE8-96B3-64B6A8CE647A}"/>
              </a:ext>
            </a:extLst>
          </p:cNvPr>
          <p:cNvSpPr txBox="1"/>
          <p:nvPr/>
        </p:nvSpPr>
        <p:spPr>
          <a:xfrm>
            <a:off x="5016500" y="52451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0F3F34"/>
                </a:solidFill>
                <a:latin typeface="Consolas" panose="020B0609020204030204" pitchFamily="49" charset="0"/>
              </a:rPr>
              <a:t>&lt; 2 HRS  /  urgent response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7C7112-274B-3192-EA86-6C20C2B5CA57}"/>
              </a:ext>
            </a:extLst>
          </p:cNvPr>
          <p:cNvSpPr txBox="1"/>
          <p:nvPr/>
        </p:nvSpPr>
        <p:spPr>
          <a:xfrm>
            <a:off x="7112000" y="52451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0F3F34"/>
                </a:solidFill>
                <a:latin typeface="Consolas" panose="020B0609020204030204" pitchFamily="49" charset="0"/>
              </a:rPr>
              <a:t>0  /  dropped bags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705D0C-511F-65C0-623E-68C8385AF791}"/>
              </a:ext>
            </a:extLst>
          </p:cNvPr>
          <p:cNvSpPr txBox="1"/>
          <p:nvPr/>
        </p:nvSpPr>
        <p:spPr>
          <a:xfrm>
            <a:off x="9144000" y="52451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0F3F34"/>
                </a:solidFill>
                <a:latin typeface="Consolas" panose="020B0609020204030204" pitchFamily="49" charset="0"/>
              </a:rPr>
              <a:t>100%  /  logged handoffs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BCA921-2A3D-462D-1F5E-34C2B8AB0DC8}"/>
              </a:ext>
            </a:extLst>
          </p:cNvPr>
          <p:cNvSpPr txBox="1"/>
          <p:nvPr/>
        </p:nvSpPr>
        <p:spPr>
          <a:xfrm>
            <a:off x="647700" y="56388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 i="1">
                <a:solidFill>
                  <a:srgbClr val="6F6F62"/>
                </a:solidFill>
                <a:latin typeface="Aptos" panose="020B0004020202020204" pitchFamily="34" charset="0"/>
              </a:rPr>
              <a:t>Pilot success = a measurable reduction in spoilage, a reliable NGO handoff, and a CSR-ready record for every kilogram.</a:t>
            </a:r>
            <a:endParaRPr lang="en-IN" sz="850" i="1">
              <a:solidFill>
                <a:srgbClr val="6F6F62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A016D5-D42D-C411-D4BE-19D895BBBF35}"/>
              </a:ext>
            </a:extLst>
          </p:cNvPr>
          <p:cNvSpPr txBox="1"/>
          <p:nvPr/>
        </p:nvSpPr>
        <p:spPr>
          <a:xfrm>
            <a:off x="431800" y="6172200"/>
            <a:ext cx="1132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680">
                <a:solidFill>
                  <a:srgbClr val="6F6F62"/>
                </a:solidFill>
                <a:latin typeface="Consolas" panose="020B0609020204030204" pitchFamily="49" charset="0"/>
              </a:rPr>
              <a:t>Context / UNEP Food Waste Index 2024  ·  Product / Firebase Firestore real-time listeners  ·  Tax / Income Tax Department Section 80G  ·  Safety / FSSAI verification is a deployment requirement.</a:t>
            </a:r>
            <a:endParaRPr lang="en-IN" sz="680">
              <a:solidFill>
                <a:srgbClr val="6F6F62"/>
              </a:solidFill>
              <a:latin typeface="Consolas" panose="020B0609020204030204" pitchFamily="49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45CB0AE-5CCC-5228-7D9E-2B8898BE2EE8}"/>
              </a:ext>
            </a:extLst>
          </p:cNvPr>
          <p:cNvCxnSpPr/>
          <p:nvPr/>
        </p:nvCxnSpPr>
        <p:spPr>
          <a:xfrm>
            <a:off x="431800" y="6426200"/>
            <a:ext cx="11328400" cy="0"/>
          </a:xfrm>
          <a:prstGeom prst="line">
            <a:avLst/>
          </a:prstGeom>
          <a:ln w="6985">
            <a:solidFill>
              <a:srgbClr val="C7BE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BEB1731-0DDF-E560-FF72-6CD1CFC24691}"/>
              </a:ext>
            </a:extLst>
          </p:cNvPr>
          <p:cNvSpPr txBox="1"/>
          <p:nvPr/>
        </p:nvSpPr>
        <p:spPr>
          <a:xfrm>
            <a:off x="431800" y="6527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750" b="1">
                <a:solidFill>
                  <a:srgbClr val="6F6F62"/>
                </a:solidFill>
                <a:latin typeface="Consolas" panose="020B0609020204030204" pitchFamily="49" charset="0"/>
              </a:rPr>
              <a:t>SURPLUS-TO-SHELTER  /  TECH CYPHER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038C63-BB06-EF77-F872-ADC2DFF8A60D}"/>
              </a:ext>
            </a:extLst>
          </p:cNvPr>
          <p:cNvSpPr txBox="1"/>
          <p:nvPr/>
        </p:nvSpPr>
        <p:spPr>
          <a:xfrm>
            <a:off x="4445000" y="65278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750">
                <a:solidFill>
                  <a:srgbClr val="6F6F62"/>
                </a:solidFill>
                <a:latin typeface="Consolas" panose="020B0609020204030204" pitchFamily="49" charset="0"/>
              </a:rPr>
              <a:t>SCALE  /  MAKE THE RIGHT HANDOFF THE EASY HANDOFF</a:t>
            </a:r>
            <a:endParaRPr lang="en-IN" sz="750">
              <a:solidFill>
                <a:srgbClr val="6F6F62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D265BE-F1BF-9F1A-FF90-829AA3691C77}"/>
              </a:ext>
            </a:extLst>
          </p:cNvPr>
          <p:cNvSpPr txBox="1"/>
          <p:nvPr/>
        </p:nvSpPr>
        <p:spPr>
          <a:xfrm>
            <a:off x="10668000" y="65278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 b="1">
                <a:solidFill>
                  <a:srgbClr val="0F3F34"/>
                </a:solidFill>
                <a:latin typeface="Consolas" panose="020B0609020204030204" pitchFamily="49" charset="0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1240268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965</Words>
  <Application>Microsoft Office PowerPoint</Application>
  <PresentationFormat>Widescreen</PresentationFormat>
  <Paragraphs>153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kathat</dc:creator>
  <cp:lastModifiedBy>sahil kathat</cp:lastModifiedBy>
  <cp:revision>1</cp:revision>
  <dcterms:created xsi:type="dcterms:W3CDTF">2026-09-25T02:06:41Z</dcterms:created>
  <dcterms:modified xsi:type="dcterms:W3CDTF">2026-09-25T02:16:27Z</dcterms:modified>
</cp:coreProperties>
</file>